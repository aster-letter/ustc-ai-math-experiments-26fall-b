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1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2127efdd5d4eb6" /><Relationship Type="http://schemas.openxmlformats.org/officeDocument/2006/relationships/extended-properties" Target="/docProps/app.xml" Id="Rb55aaffa94b744a5" /><Relationship Type="http://schemas.openxmlformats.org/officeDocument/2006/relationships/officeDocument" Target="/ppt/presentation.xml" Id="R42237a98a1f5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2798603854451"/>
  </p:sldMasterIdLst>
  <p:notesMasterIdLst>
    <p:notesMasterId xmlns:r="http://schemas.openxmlformats.org/officeDocument/2006/relationships" r:id="Rb91b6b90dc5d4806"/>
  </p:notesMasterIdLst>
  <p:sldIdLst>
    <p:sldId xmlns:r="http://schemas.openxmlformats.org/officeDocument/2006/relationships" id="256" r:id="R1f54e47a01ca441e"/>
    <p:sldId xmlns:r="http://schemas.openxmlformats.org/officeDocument/2006/relationships" id="257" r:id="R8cdf725849cd4258"/>
    <p:sldId xmlns:r="http://schemas.openxmlformats.org/officeDocument/2006/relationships" id="258" r:id="R86f09d993d8f4821"/>
    <p:sldId xmlns:r="http://schemas.openxmlformats.org/officeDocument/2006/relationships" id="259" r:id="Rb0e7758e2df64d69"/>
    <p:sldId xmlns:r="http://schemas.openxmlformats.org/officeDocument/2006/relationships" id="260" r:id="Ra519fc8d9e074a65"/>
    <p:sldId xmlns:r="http://schemas.openxmlformats.org/officeDocument/2006/relationships" id="261" r:id="Rb95a12fb98df48da"/>
    <p:sldId xmlns:r="http://schemas.openxmlformats.org/officeDocument/2006/relationships" id="262" r:id="R9c096013541349e7"/>
    <p:sldId xmlns:r="http://schemas.openxmlformats.org/officeDocument/2006/relationships" id="263" r:id="R4c3fd84d5ce64d0a"/>
    <p:sldId xmlns:r="http://schemas.openxmlformats.org/officeDocument/2006/relationships" id="264" r:id="Rcc262db30acd4b2c"/>
    <p:sldId xmlns:r="http://schemas.openxmlformats.org/officeDocument/2006/relationships" id="265" r:id="Ra885cc9283ec4b3a"/>
    <p:sldId xmlns:r="http://schemas.openxmlformats.org/officeDocument/2006/relationships" id="266" r:id="R1a1bd32f3bcd4b45"/>
    <p:sldId xmlns:r="http://schemas.openxmlformats.org/officeDocument/2006/relationships" id="267" r:id="R596221e189384eb8"/>
    <p:sldId xmlns:r="http://schemas.openxmlformats.org/officeDocument/2006/relationships" id="268" r:id="R99a478aff7ea453f"/>
    <p:sldId xmlns:r="http://schemas.openxmlformats.org/officeDocument/2006/relationships" id="269" r:id="R5b036f282b2d45b1"/>
    <p:sldId xmlns:r="http://schemas.openxmlformats.org/officeDocument/2006/relationships" id="270" r:id="R5065c6472e264566"/>
    <p:sldId xmlns:r="http://schemas.openxmlformats.org/officeDocument/2006/relationships" id="271" r:id="R64adf6f5ca3f4e2f"/>
    <p:sldId xmlns:r="http://schemas.openxmlformats.org/officeDocument/2006/relationships" id="272" r:id="Rff9e2dafb1264169"/>
    <p:sldId xmlns:r="http://schemas.openxmlformats.org/officeDocument/2006/relationships" id="273" r:id="Rcacf932eb11d48e3"/>
    <p:sldId xmlns:r="http://schemas.openxmlformats.org/officeDocument/2006/relationships" id="274" r:id="Rc075f9798fe64eb0"/>
    <p:sldId xmlns:r="http://schemas.openxmlformats.org/officeDocument/2006/relationships" id="275" r:id="Rfdc990a48218473e"/>
    <p:sldId xmlns:r="http://schemas.openxmlformats.org/officeDocument/2006/relationships" id="276" r:id="R0928dff9316e4ba1"/>
    <p:sldId xmlns:r="http://schemas.openxmlformats.org/officeDocument/2006/relationships" id="277" r:id="R18058a75461e4b3d"/>
    <p:sldId xmlns:r="http://schemas.openxmlformats.org/officeDocument/2006/relationships" id="278" r:id="Raa6ac4fe0cfe4e56"/>
    <p:sldId xmlns:r="http://schemas.openxmlformats.org/officeDocument/2006/relationships" id="279" r:id="R299f08ab32d7453a"/>
    <p:sldId xmlns:r="http://schemas.openxmlformats.org/officeDocument/2006/relationships" id="280" r:id="R60f55018d38b4c08"/>
    <p:sldId xmlns:r="http://schemas.openxmlformats.org/officeDocument/2006/relationships" id="281" r:id="R51aac90174864cb4"/>
    <p:sldId xmlns:r="http://schemas.openxmlformats.org/officeDocument/2006/relationships" id="282" r:id="R5c8442016e9d4f56"/>
    <p:sldId xmlns:r="http://schemas.openxmlformats.org/officeDocument/2006/relationships" id="283" r:id="Rce94eb512e2044d4"/>
    <p:sldId xmlns:r="http://schemas.openxmlformats.org/officeDocument/2006/relationships" id="284" r:id="R79e1bd7f71a34081"/>
    <p:sldId xmlns:r="http://schemas.openxmlformats.org/officeDocument/2006/relationships" id="285" r:id="Rd615a64e04b34539"/>
    <p:sldId xmlns:r="http://schemas.openxmlformats.org/officeDocument/2006/relationships" id="286" r:id="R9d4b06c2431f4e9a"/>
    <p:sldId xmlns:r="http://schemas.openxmlformats.org/officeDocument/2006/relationships" id="287" r:id="R0d9ab20343fe408d"/>
    <p:sldId xmlns:r="http://schemas.openxmlformats.org/officeDocument/2006/relationships" id="288" r:id="R041739c6487c4d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fb8df518c44cd6" /><Relationship Type="http://schemas.openxmlformats.org/officeDocument/2006/relationships/slideMaster" Target="/ppt/slideMasters/slideMaster1.xml" Id="R6bf2798603854451" /><Relationship Type="http://schemas.openxmlformats.org/officeDocument/2006/relationships/notesMaster" Target="/ppt/notesMasters/notesMaster1.xml" Id="Rb91b6b90dc5d4806" /><Relationship Type="http://schemas.openxmlformats.org/officeDocument/2006/relationships/presProps" Target="/ppt/presProps.xml" Id="R0e99ff452bde44ef" /><Relationship Type="http://schemas.openxmlformats.org/officeDocument/2006/relationships/tableStyles" Target="/ppt/tableStyles.xml" Id="R9b0658e0d9b24956" /><Relationship Type="http://schemas.openxmlformats.org/officeDocument/2006/relationships/slide" Target="/ppt/slides/slide1.xml" Id="R1f54e47a01ca441e" /><Relationship Type="http://schemas.openxmlformats.org/officeDocument/2006/relationships/slide" Target="/ppt/slides/slide2.xml" Id="R8cdf725849cd4258" /><Relationship Type="http://schemas.openxmlformats.org/officeDocument/2006/relationships/slide" Target="/ppt/slides/slide3.xml" Id="R86f09d993d8f4821" /><Relationship Type="http://schemas.openxmlformats.org/officeDocument/2006/relationships/slide" Target="/ppt/slides/slide4.xml" Id="Rb0e7758e2df64d69" /><Relationship Type="http://schemas.openxmlformats.org/officeDocument/2006/relationships/slide" Target="/ppt/slides/slide5.xml" Id="Ra519fc8d9e074a65" /><Relationship Type="http://schemas.openxmlformats.org/officeDocument/2006/relationships/slide" Target="/ppt/slides/slide6.xml" Id="Rb95a12fb98df48da" /><Relationship Type="http://schemas.openxmlformats.org/officeDocument/2006/relationships/slide" Target="/ppt/slides/slide7.xml" Id="R9c096013541349e7" /><Relationship Type="http://schemas.openxmlformats.org/officeDocument/2006/relationships/slide" Target="/ppt/slides/slide8.xml" Id="R4c3fd84d5ce64d0a" /><Relationship Type="http://schemas.openxmlformats.org/officeDocument/2006/relationships/slide" Target="/ppt/slides/slide9.xml" Id="Rcc262db30acd4b2c" /><Relationship Type="http://schemas.openxmlformats.org/officeDocument/2006/relationships/slide" Target="/ppt/slides/slide10.xml" Id="Ra885cc9283ec4b3a" /><Relationship Type="http://schemas.openxmlformats.org/officeDocument/2006/relationships/slide" Target="/ppt/slides/slide11.xml" Id="R1a1bd32f3bcd4b45" /><Relationship Type="http://schemas.openxmlformats.org/officeDocument/2006/relationships/slide" Target="/ppt/slides/slide12.xml" Id="R596221e189384eb8" /><Relationship Type="http://schemas.openxmlformats.org/officeDocument/2006/relationships/slide" Target="/ppt/slides/slide13.xml" Id="R99a478aff7ea453f" /><Relationship Type="http://schemas.openxmlformats.org/officeDocument/2006/relationships/slide" Target="/ppt/slides/slide14.xml" Id="R5b036f282b2d45b1" /><Relationship Type="http://schemas.openxmlformats.org/officeDocument/2006/relationships/slide" Target="/ppt/slides/slide15.xml" Id="R5065c6472e264566" /><Relationship Type="http://schemas.openxmlformats.org/officeDocument/2006/relationships/slide" Target="/ppt/slides/slide16.xml" Id="R64adf6f5ca3f4e2f" /><Relationship Type="http://schemas.openxmlformats.org/officeDocument/2006/relationships/slide" Target="/ppt/slides/slide17.xml" Id="Rff9e2dafb1264169" /><Relationship Type="http://schemas.openxmlformats.org/officeDocument/2006/relationships/slide" Target="/ppt/slides/slide18.xml" Id="Rcacf932eb11d48e3" /><Relationship Type="http://schemas.openxmlformats.org/officeDocument/2006/relationships/slide" Target="/ppt/slides/slide19.xml" Id="Rc075f9798fe64eb0" /><Relationship Type="http://schemas.openxmlformats.org/officeDocument/2006/relationships/slide" Target="/ppt/slides/slide20.xml" Id="Rfdc990a48218473e" /><Relationship Type="http://schemas.openxmlformats.org/officeDocument/2006/relationships/slide" Target="/ppt/slides/slide21.xml" Id="R0928dff9316e4ba1" /><Relationship Type="http://schemas.openxmlformats.org/officeDocument/2006/relationships/slide" Target="/ppt/slides/slide22.xml" Id="R18058a75461e4b3d" /><Relationship Type="http://schemas.openxmlformats.org/officeDocument/2006/relationships/slide" Target="/ppt/slides/slide23.xml" Id="Raa6ac4fe0cfe4e56" /><Relationship Type="http://schemas.openxmlformats.org/officeDocument/2006/relationships/slide" Target="/ppt/slides/slide24.xml" Id="R299f08ab32d7453a" /><Relationship Type="http://schemas.openxmlformats.org/officeDocument/2006/relationships/slide" Target="/ppt/slides/slide25.xml" Id="R60f55018d38b4c08" /><Relationship Type="http://schemas.openxmlformats.org/officeDocument/2006/relationships/slide" Target="/ppt/slides/slide26.xml" Id="R51aac90174864cb4" /><Relationship Type="http://schemas.openxmlformats.org/officeDocument/2006/relationships/slide" Target="/ppt/slides/slide27.xml" Id="R5c8442016e9d4f56" /><Relationship Type="http://schemas.openxmlformats.org/officeDocument/2006/relationships/slide" Target="/ppt/slides/slide28.xml" Id="Rce94eb512e2044d4" /><Relationship Type="http://schemas.openxmlformats.org/officeDocument/2006/relationships/slide" Target="/ppt/slides/slide29.xml" Id="R79e1bd7f71a34081" /><Relationship Type="http://schemas.openxmlformats.org/officeDocument/2006/relationships/slide" Target="/ppt/slides/slide30.xml" Id="Rd615a64e04b34539" /><Relationship Type="http://schemas.openxmlformats.org/officeDocument/2006/relationships/slide" Target="/ppt/slides/slide31.xml" Id="R9d4b06c2431f4e9a" /><Relationship Type="http://schemas.openxmlformats.org/officeDocument/2006/relationships/slide" Target="/ppt/slides/slide32.xml" Id="R0d9ab20343fe408d" /><Relationship Type="http://schemas.openxmlformats.org/officeDocument/2006/relationships/slide" Target="/ppt/slides/slide33.xml" Id="R041739c6487c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31cda3b7c7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33b19da654521" /><Relationship Type="http://schemas.openxmlformats.org/officeDocument/2006/relationships/notesMaster" Target="/ppt/notesMasters/notesMaster1.xml" Id="Rd43786a47b75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76134bc46843fc" /><Relationship Type="http://schemas.openxmlformats.org/officeDocument/2006/relationships/notesMaster" Target="/ppt/notesMasters/notesMaster1.xml" Id="Rf281ccb44e30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6678e6c1542f6" /><Relationship Type="http://schemas.openxmlformats.org/officeDocument/2006/relationships/notesMaster" Target="/ppt/notesMasters/notesMaster1.xml" Id="R13b17818e2eb46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b5aee6a154408" /><Relationship Type="http://schemas.openxmlformats.org/officeDocument/2006/relationships/notesMaster" Target="/ppt/notesMasters/notesMaster1.xml" Id="R23107ab9f478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4c9afe44b54734" /><Relationship Type="http://schemas.openxmlformats.org/officeDocument/2006/relationships/notesMaster" Target="/ppt/notesMasters/notesMaster1.xml" Id="R88ce71ac462d4e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fb584d99bf47de" /><Relationship Type="http://schemas.openxmlformats.org/officeDocument/2006/relationships/notesMaster" Target="/ppt/notesMasters/notesMaster1.xml" Id="R9c03caea35b74d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c3cf07a904f22" /><Relationship Type="http://schemas.openxmlformats.org/officeDocument/2006/relationships/notesMaster" Target="/ppt/notesMasters/notesMaster1.xml" Id="R0cbac1dec2944d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44b8472a34132" /><Relationship Type="http://schemas.openxmlformats.org/officeDocument/2006/relationships/notesMaster" Target="/ppt/notesMasters/notesMaster1.xml" Id="R36565ff24ff445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86a88013db42e7" /><Relationship Type="http://schemas.openxmlformats.org/officeDocument/2006/relationships/notesMaster" Target="/ppt/notesMasters/notesMaster1.xml" Id="R7de27660eb3b49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8e1bcb6a504dcb" /><Relationship Type="http://schemas.openxmlformats.org/officeDocument/2006/relationships/notesMaster" Target="/ppt/notesMasters/notesMaster1.xml" Id="R6546e959291245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c7d3ae4b2546a6" /><Relationship Type="http://schemas.openxmlformats.org/officeDocument/2006/relationships/notesMaster" Target="/ppt/notesMasters/notesMaster1.xml" Id="R9e69a22b70c84d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d08894b5e3427e" /><Relationship Type="http://schemas.openxmlformats.org/officeDocument/2006/relationships/notesMaster" Target="/ppt/notesMasters/notesMaster1.xml" Id="Re790447c42ff45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12b14d72824f2c" /><Relationship Type="http://schemas.openxmlformats.org/officeDocument/2006/relationships/notesMaster" Target="/ppt/notesMasters/notesMaster1.xml" Id="Rbec287547d8f44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7c2c4db3e649bc" /><Relationship Type="http://schemas.openxmlformats.org/officeDocument/2006/relationships/notesMaster" Target="/ppt/notesMasters/notesMaster1.xml" Id="Re969c366fd1247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4761df2afa4856" /><Relationship Type="http://schemas.openxmlformats.org/officeDocument/2006/relationships/notesMaster" Target="/ppt/notesMasters/notesMaster1.xml" Id="Rc4edcc72651445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3bfa268bed4ccc" /><Relationship Type="http://schemas.openxmlformats.org/officeDocument/2006/relationships/notesMaster" Target="/ppt/notesMasters/notesMaster1.xml" Id="R560fe79b023745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3fe89a51dc4f89" /><Relationship Type="http://schemas.openxmlformats.org/officeDocument/2006/relationships/notesMaster" Target="/ppt/notesMasters/notesMaster1.xml" Id="Rbefa0419036d44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fc8c29a65b4bf4" /><Relationship Type="http://schemas.openxmlformats.org/officeDocument/2006/relationships/notesMaster" Target="/ppt/notesMasters/notesMaster1.xml" Id="Redc13727ca6647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03a007fa5549bb" /><Relationship Type="http://schemas.openxmlformats.org/officeDocument/2006/relationships/notesMaster" Target="/ppt/notesMasters/notesMaster1.xml" Id="Rb12a9dedef0049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d65a366773402a" /><Relationship Type="http://schemas.openxmlformats.org/officeDocument/2006/relationships/notesMaster" Target="/ppt/notesMasters/notesMaster1.xml" Id="Rea655e1742ee4b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024b86b37e4ee6" /><Relationship Type="http://schemas.openxmlformats.org/officeDocument/2006/relationships/notesMaster" Target="/ppt/notesMasters/notesMaster1.xml" Id="R2a858f79e20c41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c2b3271bbe4b90" /><Relationship Type="http://schemas.openxmlformats.org/officeDocument/2006/relationships/notesMaster" Target="/ppt/notesMasters/notesMaster1.xml" Id="Re378ace07dd241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41be03310e4b0a" /><Relationship Type="http://schemas.openxmlformats.org/officeDocument/2006/relationships/notesMaster" Target="/ppt/notesMasters/notesMaster1.xml" Id="Re78bc1cab11840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29c68cb52d47eb" /><Relationship Type="http://schemas.openxmlformats.org/officeDocument/2006/relationships/notesMaster" Target="/ppt/notesMasters/notesMaster1.xml" Id="Ra0529b34638941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63109b09c74c22" /><Relationship Type="http://schemas.openxmlformats.org/officeDocument/2006/relationships/notesMaster" Target="/ppt/notesMasters/notesMaster1.xml" Id="R02107da7f8b149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cd3e2d66564c27" /><Relationship Type="http://schemas.openxmlformats.org/officeDocument/2006/relationships/notesMaster" Target="/ppt/notesMasters/notesMaster1.xml" Id="R1214e6a2cf1f43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d621698f714cdd" /><Relationship Type="http://schemas.openxmlformats.org/officeDocument/2006/relationships/notesMaster" Target="/ppt/notesMasters/notesMaster1.xml" Id="Rd9094689536c41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b7932ef558c4756" /><Relationship Type="http://schemas.openxmlformats.org/officeDocument/2006/relationships/notesMaster" Target="/ppt/notesMasters/notesMaster1.xml" Id="R251a6466d8664e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b5a7dae7e744eb4" /><Relationship Type="http://schemas.openxmlformats.org/officeDocument/2006/relationships/notesMaster" Target="/ppt/notesMasters/notesMaster1.xml" Id="Rd2c76a68a7b44ad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5809416c754c11" /><Relationship Type="http://schemas.openxmlformats.org/officeDocument/2006/relationships/notesMaster" Target="/ppt/notesMasters/notesMaster1.xml" Id="R4c9628d9783742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ff8397f056740d5" /><Relationship Type="http://schemas.openxmlformats.org/officeDocument/2006/relationships/notesMaster" Target="/ppt/notesMasters/notesMaster1.xml" Id="Rc97610073f7e4f2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e58b7b5ef7645d5" /><Relationship Type="http://schemas.openxmlformats.org/officeDocument/2006/relationships/notesMaster" Target="/ppt/notesMasters/notesMaster1.xml" Id="Rdf5d4b4429cd4d6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9ca8bc42d343f7" /><Relationship Type="http://schemas.openxmlformats.org/officeDocument/2006/relationships/notesMaster" Target="/ppt/notesMasters/notesMaster1.xml" Id="R79965eaf7b88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开场：今天让网络给宠物照片中的每个像素做判断。基础任务自己搭编码器，提供解码器。进阶完成两条跳跃连接。所有训练评估在107平台完成。照片为真实数据集样本，不是模型生成或预测结果。</a:t>
            </a:r>
          </a:p>
          <a:p xmlns:a="http://schemas.openxmlformats.org/drawingml/2006/main">
            <a:r>
              <a:t>图片来源：https://www.robots.ox.ac.uk/~vgg/data/pets/，images/Birman_10.jpg。版权归原图权利人，数据集页面与归档README列有使用条件。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先让学生口头描述分类与分割的输出差别。分类输出一个类别，语义分割输出与图像对齐的类别网格。本实验合并猫狗为宠物前景，不识别品种，也不区分多个宠物的实例。</a:t>
            </a:r>
          </a:p>
          <a:p xmlns:a="http://schemas.openxmlformats.org/drawingml/2006/main">
            <a:r>
              <a:t>来源：本实验讲义及 code/data.py、models.py、student_encoder.py、学生自行编写的进阶模型文件、metrics.py。 图片：https://www.robots.ox.ac.uk/~vgg/data/pets/，pug_10.jpg。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理论参考：邱锡鹏《神经网络与深度学习》第5章（source/pdf/nndl-v2.pdf）。照片与标签：Oxford-IIIT Pet, https://www.robots.ox.ac.uk/~vgg/data/pets/ 。以Bengal_10灰度图执行固定Sobel水平导数核（不翻核），padding1，然后ReLU和2×2最大池化。这是固定核教学演示，非训练后的网络特征。卷积核为[-1,0,1;-2,0,2;-1,0,1]。响应色标保持一致；池化显示面积减小，实际128²变64²。输入处保留RGB照片，运算实际先转灰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参考：邱锡鹏《神经网络与深度学习》第5章（source/pdf/nndl-v2.pdf）。实现与评估口径：实验05讲义、code/models.py、student_encoder.py、学生自行编写的进阶模型文件、metrics.py。教学自编数字，偏置0，步长1，无填充。PyTorch卷积实际执行互相关，不翻转核。请学生计算右上输出，再将输入中心5改为10，输出变成[-9,-4;-4,1]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参考：邱锡鹏《神经网络与深度学习》第5章（source/pdf/nndl-v2.pdf）。实现与评估口径：实验05讲义、code/models.py、student_encoder.py、学生自行编写的进阶模型文件、metrics.py。ReLU不改变维度；最大池化逐通道计算，不改变通道数。右侧四个颜色对应四个2×2窗口。先请学生手算再公布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参考：邱锡鹏《神经网络与深度学习》第5章（source/pdf/nndl-v2.pdf）。实现与评估口径：实验05讲义、code/models.py、student_encoder.py、学生自行编写的进阶模型文件、metrics.py。公式假设膨胀率1。宽度同理，floor为向下取整。卷积输出通道由out_channels指定，池化不改变通道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官方数据为37个品种，规模共7349张，以官方名单为准。图片含姿态、尺度、光照与背景差异。本实验用像素标注做前景分割，品种只用于划分分组。逐张引导观察毛发、背景相似和遮挡。</a:t>
            </a:r>
          </a:p>
          <a:p xmlns:a="http://schemas.openxmlformats.org/drawingml/2006/main">
            <a:r>
              <a:t>图片与事实来源：https://www.robots.ox.ac.uk/~vgg/data/pets/。使用的原始样本：Bengal_10、Persian_10、Siamese_18、samoyed_10、english_cocker_spaniel_10。版权归原图权利人。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中列橙色是前景1，深蓝背景2，红色未分类3。右列白色宠物、黑色背景、灰色忽略区域。灰色区域既不计损失也不计指标，不能把3当作第三个训练类别。此处显示人工标注，绝不是模型预测。</a:t>
            </a:r>
          </a:p>
          <a:p xmlns:a="http://schemas.openxmlformats.org/drawingml/2006/main">
            <a:r>
              <a:t>图源：https://www.robots.ox.ac.uk/~vgg/data/pets/，Abyssinian_10、beagle_10及对应trimap。标注显示图来自实验05/assets/pet-data.png，按原始像素值着色。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val内按品种分组，种子2026，80%向下取整，因此2941/739。官方test3669不动。训练种子42与划分种子2026职责不同。图片resize双线性，mask最近邻，避免产生不存在的标签。所有模型统一128×128，这不是原始分辨率公开基准。</a:t>
            </a:r>
          </a:p>
          <a:p xmlns:a="http://schemas.openxmlformats.org/drawingml/2006/main">
            <a:r>
              <a:t>来源：本实验讲义及 code/data.py、models.py、student_encoder.py、学生自行编写的进阶模型文件、metrics.py。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正面大小代表空间分辨率，叠层厚度代表通道数量，比例仅作示意。编码器3→16→32→64且空间128→64→32→16。解码器通道64→32→16→16→1，部分层通道保持不变。最后显示人工标注作为目标，不能声称这是预测。两部分联合训练，基础版不含跳跃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三阶段接口e1:[B,16,64,64]、e2:[B,32,32,32]、z:[B,64,16,16]。图按空间大小与通道数趋势绘制，非真实通道数的逐片枚举。每阶段卷积+ReLU+池化，保留中间特征供进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基础解码器用双线性上采样再卷积，不用转置卷积。通道64→32→16→16，最后1×1卷积16→1。卷积可训练，上采样无参数。最后单通道为原始得分，输出头不做sigmo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这是教学数值示例，非训练预测。三张网格位置一一对应。z任意实数，sigmoid概率在0和1之间，阈值0.5（含等号）。1[条件]是指示函数，成立取1，否则0；y帽是预测标签。训练送logits进稳定损失函数，不能提前sigmo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每像素二元交叉熵，先每图有效像素平均，再batch图片平均。忽略位置梯度0。教学例y=[1,0],z=[0,0],平均损失log2，关于z梯度[-.25,.25]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实现与评估口径：实验05讲义、code/models.py、student_encoder.py、学生自行编写的进阶模型文件、metrics.py。IoU全称Intersection over Union。自编4×4有效像素示例：P为前三列共12，G为后三列共12，交集8，并集16。蓝色仅预测前景（误检4），橙色仅真实前景（漏检4），青色重合8。Dice分母将两份前景相加，重合像素计两次，所以分子也乘2。二者范围0到1，越大越好；数值不同不可混为同一量。实际先排除原始标签3，逐图算指标再平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U-Net最初面向生物医学图像分割，原论文发表于2015。图为原论文Figure1。高分辨率特征补充定位细节，深层特征提供更大范围上下文。原图尺寸不是本实验配置。本实验采用padding1、双线性上采样和两条跳跃连接。</a:t>
            </a:r>
          </a:p>
          <a:p xmlns:a="http://schemas.openxmlformats.org/drawingml/2006/main">
            <a:r>
              <a:t>图与事实来源：Ronneberger et al., U-Net: Convolutional Networks for Biomedical Image Segmentation, 2015. https://arxiv.org/abs/1505.04597，Figure1，https://arxiv.org/pdf/1505.04597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两条skip分别连接e1到d1、e2到d2；没有128²全分辨率skip。图中立方叠层表现空间和通道趋势。e2拼接64+32=96再卷积到32；e1拼接32+16=48再卷积到16。最后d1上采样到128²输出。输入→e1尚有一个编码阶段，用文字注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与评估口径：实验05讲义、code/models.py、student_encoder.py、学生自行编写的进阶模型文件、metrics.py。仅理论示意，不显示实现代码；进阶由学生自行实现，不提供U-Net代码骨架。两组空间尺寸必须一致，拼接沿通道，不是相加。对应本实验e2：64+32=96，卷积输出32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理论参考：邱锡鹏《神经网络与深度学习》第5章（source/pdf/nndl-v2.pdf）。ResNet参考He et al., Deep Residual Learning for Image Recognition, https://arxiv.org/abs/1512.03385 。U-Net参考https://arxiv.org/abs/1505.04597 。两者都有跨层路径。残差相加学习相对输入的修正并提供直接梯度路径，需张量形状匹配。UNet拼接保留两组通道帮助定位并由卷积融合，不意味着二者互斥，UNet内部可以用残差块。这里只做理论比较，不加代码实现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BN参考https://docs.pytorch.org/docs/2.7/generated/torch.nn.BatchNorm2d.html 。LN参考https://docs.pytorch.org/docs/2.7/generated/torch.nn.LayerNorm.html 。BN按通道跨B,H,W统计；训练使用当前批统计并默认维护running stats，eval默认用running stats。LN按样本内指定维统计，不依赖其它样本，无运行统计量。两者之后都有可学习的缩放平移。BN可能带来正则化效应，泛化改善不保证；小批量或分布变化需关注。LN在图像中必须明确归一化维度，不能直接用LayerNorm(C)处理NCHW的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补全operator_exercises.py、student_encoder.py和student_decoder.py。解码器PetDecoder含T4.1至T4.4。解码器空间尺寸16到32到64到128，卷积通道64到32到16到16，输出头16到1。基础与改进共用同一解码器结构。分别运行checks.py basic和checks.py improved检查完整网络。进阶U-Net由学生自行实现。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NVIDIA显卡需要支持CUDA的PyTorch环境，按照讲义8.1确认torch.cuda.is_available()。run_local.py保存本地.log，Slurm保存.out/.err。两者默认20轮、批量16、学习率0.001、种子42。没有本地NVIDIA显卡的同学可在CPU上完成运算和编解码器检查后看讲义8.2。最终评估使用选定权重对应的source/evaluat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默认20轮、batch16、学习率0.001、种子42。预算调整时各组同步，保留记录。基础和improved使用相同学生实现的解码器。UNet单列。记录参数量、耗时。不要把一次高分等同于归一化必然提高泛化。</a:t>
            </a:r>
          </a:p>
          <a:p xmlns:a="http://schemas.openxmlformats.org/drawingml/2006/main">
            <a:r>
              <a:t>来源：本实验讲义及 code/data.py、models.py、student_encoder.py、学生自行编写的进阶模型文件、metrics.py。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基础100分：基础运算与尺寸解释20，编解码器与连接30（编码器10、解码器10、连接与输出5、梯度检查5），训练与复现20，对比与错误分析20，最终效果10。本地NVIDIA GPU日志与107 Slurm日志按相同标准评分。进阶最多加20分，最终封顶100分。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预期答案：1.不同卷积核组合输入通道产生输出通道，池化逐通道执行。2.插值可以恢复尺寸，但无法完全恢复丢失信息。3.96通道。4.前景IoU关注主体区域重合程度，忽略区域排除后计算，最后逐图等权平均。</a:t>
            </a:r>
          </a:p>
          <a:p xmlns:a="http://schemas.openxmlformats.org/drawingml/2006/main">
            <a:r>
              <a:t>来源：本实验讲义及 code/data.py、models.py、student_encoder.py、学生自行编写的进阶模型文件、metrics.py。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图片逐页备注列具体来源。照片版权归原权利人，官方页面声明CC BY-SA4.0，归档README另保留研究用途说明，应尊重来源网站条款。引用照片和论文图用于教学说明。</a:t>
            </a:r>
          </a:p>
          <a:p xmlns:a="http://schemas.openxmlformats.org/drawingml/2006/main">
            <a:r>
              <a:t>本地资料：邱锡鹏《神经网络与深度学习》第5章，source/pdf/nndl-v2.pdf，§5.1–5.2、§5.4.5。 课程对齐：教案/人工智能数学原理与算法_12次课程与助教分工_最终版.xlsx。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四组模型均训练20轮，使用同一训练/验证/测试划分，训练种子42。以验证集IoU选择检查点，再在完整测试集评估。两组基础模型采用最初的朴素实现。改进方案包含多项设置变化，不能把差异归因于单个因素。结果为本地实验记录，不是107平台速度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曲线为每轮结束后的验证集平均前景IoU，未经平滑。不是测试集曲线。训练集2941张，验证集739张；所有曲线都有20个真实记录点。最终测试使用验证IoU最高的检查点，分别来自第18、18、18、17轮。轮次相同不等于训练成本相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四个子图来自各自完整history.csv的train_loss列，未经平滑。各方案损失定义可能不同，纵轴单独设置，只观察自身随训练变化的趋势，不能用绝对损失值给方案排名。结合上一页验证IoU和后续测试图片判断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沿用此前以固定种子2026抽取的3张猫与3张狗，展示全部6张，不按结果重新筛选。输入、真实掩码和四组预测一一对应。掩码统一按128×128网格展示。白色宠物，黑色背景；真实标注的灰色边界忽略。展示前用已保存的最佳检查点重新推理，并与已存逐图测试IoU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沿用此前以固定种子2026抽取的3张猫与3张狗，展示全部6张，不按结果重新筛选。输入、真实掩码和四组预测一一对应。掩码统一按128×128网格展示。白色宠物，黑色背景；真实标注的灰色边界忽略。展示前用已保存的最佳检查点重新推理，并与已存逐图测试IoU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沿用此前以固定种子2026抽取的3张猫与3张狗，展示全部6张，不按结果重新筛选。输入、真实掩码和四组预测一一对应。掩码统一按128×128网格展示。白色宠物，黑色背景；真实标注的灰色边界忽略。展示前用已保存的最佳检查点重新推理，并与已存逐图测试IoU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数据来源：实验05教师留存的完整训练日志与测试结果，2026-10-18。照片与标签：Oxford-IIIT Pet，https://www.robots.ox.ac.uk/~vgg/data/pets/ 。本节方案名称匿名化；不在课件中披露改进细节。课堂结语：基础任务首先要求理解卷积、激活、池化、维度连接与训练评估。四组结果说明，在该数据集和本实验评价口径下，可以从约0.70的IoU提升到约0.97。并非所有图片都完美，平均值不能代替失败案例分析。本节不披露改进方法，保留学生探索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4a12f8f2b46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f8341f72b4c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3bf59461d4c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319580f8249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952dcf94a41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03638bb7240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284F88-03A8-4E3B-A026-8B76A0C44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A5B9EC-6783-4401-A42C-51E65C26CC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FD1362-C59D-47D9-831F-3201C89B1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1C0A80-710D-4673-A61C-DA7C32B55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CB0F56-5B92-4358-809F-6B5623629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534ECD-B9AC-454F-B7A8-9CF1B1B7C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0637F6-C27E-4CE8-AF9A-64AAB1C01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FC19F1-404D-4511-8314-B79005D744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98242B-1B31-4C8C-9543-B2D41C47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3B007C-E43B-4AB2-A19D-F23C16B99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e4b6da6c04c69" /><Relationship Type="http://schemas.openxmlformats.org/officeDocument/2006/relationships/slideLayout" Target="/ppt/slideLayouts/slideLayout1.xml" Id="R2f0ab86f968a46e6" /><Relationship Type="http://schemas.openxmlformats.org/officeDocument/2006/relationships/slideLayout" Target="/ppt/slideLayouts/slideLayout2.xml" Id="R73703e7118e54352" /><Relationship Type="http://schemas.openxmlformats.org/officeDocument/2006/relationships/slideLayout" Target="/ppt/slideLayouts/slideLayout3.xml" Id="Rf53ed3ef034a4a61" /><Relationship Type="http://schemas.openxmlformats.org/officeDocument/2006/relationships/slideLayout" Target="/ppt/slideLayouts/slideLayout4.xml" Id="R65e1b3f97e934bce" /><Relationship Type="http://schemas.openxmlformats.org/officeDocument/2006/relationships/slideLayout" Target="/ppt/slideLayouts/slideLayout5.xml" Id="R3d07ef10a9944f3d" /><Relationship Type="http://schemas.openxmlformats.org/officeDocument/2006/relationships/slideLayout" Target="/ppt/slideLayouts/slideLayout6.xml" Id="R1ec9c2b1cd2548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ab86f968a46e6"/>
    <p:sldLayoutId xmlns:r="http://schemas.openxmlformats.org/officeDocument/2006/relationships" id="2147483650" r:id="R73703e7118e54352"/>
    <p:sldLayoutId xmlns:r="http://schemas.openxmlformats.org/officeDocument/2006/relationships" id="2147483651" r:id="Rf53ed3ef034a4a61"/>
    <p:sldLayoutId xmlns:r="http://schemas.openxmlformats.org/officeDocument/2006/relationships" id="2147483652" r:id="R65e1b3f97e934bce"/>
    <p:sldLayoutId xmlns:r="http://schemas.openxmlformats.org/officeDocument/2006/relationships" id="2147483653" r:id="R3d07ef10a9944f3d"/>
    <p:sldLayoutId xmlns:r="http://schemas.openxmlformats.org/officeDocument/2006/relationships" id="2147483654" r:id="R1ec9c2b1cd2548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27f1ee5684b1e" /><Relationship Type="http://schemas.openxmlformats.org/officeDocument/2006/relationships/image" Target="/ppt/media/image.jpeg" Id="R43107e1f47f54c48" /><Relationship Type="http://schemas.openxmlformats.org/officeDocument/2006/relationships/notesSlide" Target="/ppt/notesSlides/notesSlide1.xml" Id="Rfce45eb7a5d3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d4cb3d8b04684" /><Relationship Type="http://schemas.openxmlformats.org/officeDocument/2006/relationships/image" Target="/ppt/media/image2.jpeg" Id="Rd26964746abd4a0d" /><Relationship Type="http://schemas.openxmlformats.org/officeDocument/2006/relationships/notesSlide" Target="/ppt/notesSlides/notesSlide2.xml" Id="R7eeb17ee69d34e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6499ce38f4dcf" /><Relationship Type="http://schemas.openxmlformats.org/officeDocument/2006/relationships/image" Target="/ppt/media/image.png" Id="R50e23d359c564664" /><Relationship Type="http://schemas.openxmlformats.org/officeDocument/2006/relationships/image" Target="/ppt/media/image2.png" Id="Rb3fe36e3c9e24ac9" /><Relationship Type="http://schemas.openxmlformats.org/officeDocument/2006/relationships/image" Target="/ppt/media/image3.png" Id="Rb8332b02730d4d3f" /><Relationship Type="http://schemas.openxmlformats.org/officeDocument/2006/relationships/image" Target="/ppt/media/image4.png" Id="R4d8792437d9e466f" /><Relationship Type="http://schemas.openxmlformats.org/officeDocument/2006/relationships/notesSlide" Target="/ppt/notesSlides/notesSlide3.xml" Id="R5b790e03cbaf47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14ca79e084861" /><Relationship Type="http://schemas.openxmlformats.org/officeDocument/2006/relationships/image" Target="/ppt/media/image5.png" Id="R49daa4c1a50a4943" /><Relationship Type="http://schemas.openxmlformats.org/officeDocument/2006/relationships/notesSlide" Target="/ppt/notesSlides/notesSlide4.xml" Id="R03a328b2577a43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9b5ef4d0c4224" /><Relationship Type="http://schemas.openxmlformats.org/officeDocument/2006/relationships/image" Target="/ppt/media/image6.png" Id="R08d5c29fe796480a" /><Relationship Type="http://schemas.openxmlformats.org/officeDocument/2006/relationships/notesSlide" Target="/ppt/notesSlides/notesSlide5.xml" Id="R2665946f76734f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0c06af0784e35" /><Relationship Type="http://schemas.openxmlformats.org/officeDocument/2006/relationships/image" Target="/ppt/media/image7.png" Id="R6fcbac478a7e404c" /><Relationship Type="http://schemas.openxmlformats.org/officeDocument/2006/relationships/notesSlide" Target="/ppt/notesSlides/notesSlide6.xml" Id="Refcbb9e3c8c34b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588a4c82b48d8" /><Relationship Type="http://schemas.openxmlformats.org/officeDocument/2006/relationships/image" Target="/ppt/media/image3.jpeg" Id="R741e7303106d4b50" /><Relationship Type="http://schemas.openxmlformats.org/officeDocument/2006/relationships/image" Target="/ppt/media/image4.jpeg" Id="R24c7c2e27c644870" /><Relationship Type="http://schemas.openxmlformats.org/officeDocument/2006/relationships/image" Target="/ppt/media/image5.jpeg" Id="R9b4dffab3a0d40af" /><Relationship Type="http://schemas.openxmlformats.org/officeDocument/2006/relationships/image" Target="/ppt/media/image6.jpeg" Id="Rc66c18afa54144e9" /><Relationship Type="http://schemas.openxmlformats.org/officeDocument/2006/relationships/image" Target="/ppt/media/image7.jpeg" Id="R561f2b1b7ba64816" /><Relationship Type="http://schemas.openxmlformats.org/officeDocument/2006/relationships/notesSlide" Target="/ppt/notesSlides/notesSlide7.xml" Id="R6b8dfd511dd843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1f906508e4737" /><Relationship Type="http://schemas.openxmlformats.org/officeDocument/2006/relationships/image" Target="/ppt/media/image8.png" Id="Rca9ccdcd0cc74295" /><Relationship Type="http://schemas.openxmlformats.org/officeDocument/2006/relationships/notesSlide" Target="/ppt/notesSlides/notesSlide8.xml" Id="R7bf7be47811048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bf285502d415b" /><Relationship Type="http://schemas.openxmlformats.org/officeDocument/2006/relationships/notesSlide" Target="/ppt/notesSlides/notesSlide9.xml" Id="R6a4fb5aef0c74d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c77f7a536474e" /><Relationship Type="http://schemas.openxmlformats.org/officeDocument/2006/relationships/image" Target="/ppt/media/image9.png" Id="Rc720f4a348c6463f" /><Relationship Type="http://schemas.openxmlformats.org/officeDocument/2006/relationships/image" Target="/ppt/media/image10.png" Id="R2524d892174c4d87" /><Relationship Type="http://schemas.openxmlformats.org/officeDocument/2006/relationships/notesSlide" Target="/ppt/notesSlides/notesSlide10.xml" Id="Rcf0837cebf4546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4105c49a641f8" /><Relationship Type="http://schemas.openxmlformats.org/officeDocument/2006/relationships/image" Target="/ppt/media/image11.png" Id="R9ee0b30e09fa46b0" /><Relationship Type="http://schemas.openxmlformats.org/officeDocument/2006/relationships/notesSlide" Target="/ppt/notesSlides/notesSlide11.xml" Id="R375aba44298948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04fc0fd66440c" /><Relationship Type="http://schemas.openxmlformats.org/officeDocument/2006/relationships/notesSlide" Target="/ppt/notesSlides/notesSlide12.xml" Id="Rda7d0e06059d43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98ebdaf0c4738" /><Relationship Type="http://schemas.openxmlformats.org/officeDocument/2006/relationships/image" Target="/ppt/media/image12.png" Id="Rc2604b9dc8784885" /><Relationship Type="http://schemas.openxmlformats.org/officeDocument/2006/relationships/image" Target="/ppt/media/image13.png" Id="Rfba7d37b8c464d55" /><Relationship Type="http://schemas.openxmlformats.org/officeDocument/2006/relationships/notesSlide" Target="/ppt/notesSlides/notesSlide13.xml" Id="R2e69a6363eb340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688dd75434a6c" /><Relationship Type="http://schemas.openxmlformats.org/officeDocument/2006/relationships/image" Target="/ppt/media/image14.png" Id="R83c6ce8392c3497d" /><Relationship Type="http://schemas.openxmlformats.org/officeDocument/2006/relationships/notesSlide" Target="/ppt/notesSlides/notesSlide14.xml" Id="R85460553d4cb47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174acfb9641c1" /><Relationship Type="http://schemas.openxmlformats.org/officeDocument/2006/relationships/image" Target="/ppt/media/image15.png" Id="R0a830fc24320435f" /><Relationship Type="http://schemas.openxmlformats.org/officeDocument/2006/relationships/image" Target="/ppt/media/image16.png" Id="R9b43b9b6160c4df7" /><Relationship Type="http://schemas.openxmlformats.org/officeDocument/2006/relationships/image" Target="/ppt/media/image17.png" Id="Rca6da76180a74adc" /><Relationship Type="http://schemas.openxmlformats.org/officeDocument/2006/relationships/image" Target="/ppt/media/image18.png" Id="Rbd3307ad96ab4123" /><Relationship Type="http://schemas.openxmlformats.org/officeDocument/2006/relationships/notesSlide" Target="/ppt/notesSlides/notesSlide15.xml" Id="R43560ee989a543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be53c404e43d6" /><Relationship Type="http://schemas.openxmlformats.org/officeDocument/2006/relationships/image" Target="/ppt/media/image19.png" Id="R862ab1b4ebb24c1c" /><Relationship Type="http://schemas.openxmlformats.org/officeDocument/2006/relationships/notesSlide" Target="/ppt/notesSlides/notesSlide16.xml" Id="Rf883066c33ce41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92569fbe34704" /><Relationship Type="http://schemas.openxmlformats.org/officeDocument/2006/relationships/notesSlide" Target="/ppt/notesSlides/notesSlide17.xml" Id="R8a57c322ff4142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43b8dfc3040d0" /><Relationship Type="http://schemas.openxmlformats.org/officeDocument/2006/relationships/notesSlide" Target="/ppt/notesSlides/notesSlide18.xml" Id="Rb46e7a92b93e4b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a2f8a706a40ed" /><Relationship Type="http://schemas.openxmlformats.org/officeDocument/2006/relationships/image" Target="/ppt/media/image20.png" Id="R925bb16776d74932" /><Relationship Type="http://schemas.openxmlformats.org/officeDocument/2006/relationships/notesSlide" Target="/ppt/notesSlides/notesSlide19.xml" Id="R8c9114513f3a43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8b1c22cd94394" /><Relationship Type="http://schemas.openxmlformats.org/officeDocument/2006/relationships/notesSlide" Target="/ppt/notesSlides/notesSlide20.xml" Id="Rdcf80717a7c84b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cb4c156d44c50" /><Relationship Type="http://schemas.openxmlformats.org/officeDocument/2006/relationships/notesSlide" Target="/ppt/notesSlides/notesSlide21.xml" Id="R15932d8d2ecf41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2103000d64a5f" /><Relationship Type="http://schemas.openxmlformats.org/officeDocument/2006/relationships/notesSlide" Target="/ppt/notesSlides/notesSlide22.xml" Id="Rb2a5f79b67bb44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1f9480dfd460f" /><Relationship Type="http://schemas.openxmlformats.org/officeDocument/2006/relationships/notesSlide" Target="/ppt/notesSlides/notesSlide23.xml" Id="Rb152ede3dd3843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3fbed3ad34a6b" /><Relationship Type="http://schemas.openxmlformats.org/officeDocument/2006/relationships/notesSlide" Target="/ppt/notesSlides/notesSlide24.xml" Id="R9f3df3e9ba554b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1a79b04b54455" /><Relationship Type="http://schemas.openxmlformats.org/officeDocument/2006/relationships/notesSlide" Target="/ppt/notesSlides/notesSlide25.xml" Id="Rb9548fdd370744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2ce053fc64085" /><Relationship Type="http://schemas.openxmlformats.org/officeDocument/2006/relationships/notesSlide" Target="/ppt/notesSlides/notesSlide26.xml" Id="Rfaecd43cf96243b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96f6eb9d14ea2" /><Relationship Type="http://schemas.openxmlformats.org/officeDocument/2006/relationships/notesSlide" Target="/ppt/notesSlides/notesSlide27.xml" Id="R300173a3f2fc4f2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0bd4fe2fb4299" /><Relationship Type="http://schemas.openxmlformats.org/officeDocument/2006/relationships/chart" Target="/ppt/slides/charts/chart1.xml" Id="R49922ffa549b4032" /><Relationship Type="http://schemas.openxmlformats.org/officeDocument/2006/relationships/notesSlide" Target="/ppt/notesSlides/notesSlide28.xml" Id="R8f9e60d7a85a45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99e1296ef4e9d" /><Relationship Type="http://schemas.openxmlformats.org/officeDocument/2006/relationships/chart" Target="/ppt/slides/charts/chart2.xml" Id="Raf4ea8266bb048b7" /><Relationship Type="http://schemas.openxmlformats.org/officeDocument/2006/relationships/chart" Target="/ppt/slides/charts/chart3.xml" Id="R778e270a05284422" /><Relationship Type="http://schemas.openxmlformats.org/officeDocument/2006/relationships/chart" Target="/ppt/slides/charts/chart4.xml" Id="R3b2d60cdbd7d42a4" /><Relationship Type="http://schemas.openxmlformats.org/officeDocument/2006/relationships/chart" Target="/ppt/slides/charts/chart5.xml" Id="R45efc4ccd1b6402f" /><Relationship Type="http://schemas.openxmlformats.org/officeDocument/2006/relationships/notesSlide" Target="/ppt/notesSlides/notesSlide29.xml" Id="Ra48e74c954f641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d5a35b4ba4c53" /><Relationship Type="http://schemas.openxmlformats.org/officeDocument/2006/relationships/image" Target="/ppt/media/image21.png" Id="R8c51934c8fe94eda" /><Relationship Type="http://schemas.openxmlformats.org/officeDocument/2006/relationships/image" Target="/ppt/media/image22.png" Id="R1d67c55230a249b4" /><Relationship Type="http://schemas.openxmlformats.org/officeDocument/2006/relationships/image" Target="/ppt/media/image23.png" Id="R2f8f62b1e7d141fc" /><Relationship Type="http://schemas.openxmlformats.org/officeDocument/2006/relationships/image" Target="/ppt/media/image24.png" Id="Rdcbdf1984dc04f4d" /><Relationship Type="http://schemas.openxmlformats.org/officeDocument/2006/relationships/image" Target="/ppt/media/image25.png" Id="Rc544deddadb746c6" /><Relationship Type="http://schemas.openxmlformats.org/officeDocument/2006/relationships/image" Target="/ppt/media/image26.png" Id="Ra4800af404cb471f" /><Relationship Type="http://schemas.openxmlformats.org/officeDocument/2006/relationships/image" Target="/ppt/media/image27.png" Id="R84566409b0514c2d" /><Relationship Type="http://schemas.openxmlformats.org/officeDocument/2006/relationships/image" Target="/ppt/media/image28.png" Id="R4664797a8f754e98" /><Relationship Type="http://schemas.openxmlformats.org/officeDocument/2006/relationships/image" Target="/ppt/media/image29.png" Id="R35027839e95d409e" /><Relationship Type="http://schemas.openxmlformats.org/officeDocument/2006/relationships/image" Target="/ppt/media/image30.png" Id="R094f9414d544487e" /><Relationship Type="http://schemas.openxmlformats.org/officeDocument/2006/relationships/image" Target="/ppt/media/image31.png" Id="R2e12945414ef4882" /><Relationship Type="http://schemas.openxmlformats.org/officeDocument/2006/relationships/image" Target="/ppt/media/image32.png" Id="R9a56d63dbe6c4aa8" /><Relationship Type="http://schemas.openxmlformats.org/officeDocument/2006/relationships/notesSlide" Target="/ppt/notesSlides/notesSlide30.xml" Id="R5a83bc31d323484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c5d902c8f4149" /><Relationship Type="http://schemas.openxmlformats.org/officeDocument/2006/relationships/image" Target="/ppt/media/image33.png" Id="Rd3e6c7c9f83140a0" /><Relationship Type="http://schemas.openxmlformats.org/officeDocument/2006/relationships/image" Target="/ppt/media/image34.png" Id="R3f8ca15a6e314b19" /><Relationship Type="http://schemas.openxmlformats.org/officeDocument/2006/relationships/image" Target="/ppt/media/image35.png" Id="R4070d055c530425b" /><Relationship Type="http://schemas.openxmlformats.org/officeDocument/2006/relationships/image" Target="/ppt/media/image36.png" Id="R635438a78a784b19" /><Relationship Type="http://schemas.openxmlformats.org/officeDocument/2006/relationships/image" Target="/ppt/media/image37.png" Id="R6363553b227f478c" /><Relationship Type="http://schemas.openxmlformats.org/officeDocument/2006/relationships/image" Target="/ppt/media/image38.png" Id="Rae34800a0e154a00" /><Relationship Type="http://schemas.openxmlformats.org/officeDocument/2006/relationships/image" Target="/ppt/media/image39.png" Id="Rd038bffc532e4e60" /><Relationship Type="http://schemas.openxmlformats.org/officeDocument/2006/relationships/image" Target="/ppt/media/image40.png" Id="Rd2bdc206ff494c2b" /><Relationship Type="http://schemas.openxmlformats.org/officeDocument/2006/relationships/image" Target="/ppt/media/image41.png" Id="R97c84d59056c47d2" /><Relationship Type="http://schemas.openxmlformats.org/officeDocument/2006/relationships/image" Target="/ppt/media/image42.png" Id="Rf90ad4f894024718" /><Relationship Type="http://schemas.openxmlformats.org/officeDocument/2006/relationships/image" Target="/ppt/media/image43.png" Id="R8cd5f8fce9194212" /><Relationship Type="http://schemas.openxmlformats.org/officeDocument/2006/relationships/image" Target="/ppt/media/image44.png" Id="Ra3e1c3eb3ce046e4" /><Relationship Type="http://schemas.openxmlformats.org/officeDocument/2006/relationships/notesSlide" Target="/ppt/notesSlides/notesSlide31.xml" Id="R1a468cd11781451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1f9ff938d432d" /><Relationship Type="http://schemas.openxmlformats.org/officeDocument/2006/relationships/image" Target="/ppt/media/image45.png" Id="Rb2e739d594b84eb9" /><Relationship Type="http://schemas.openxmlformats.org/officeDocument/2006/relationships/image" Target="/ppt/media/image46.png" Id="R8468f34f72314573" /><Relationship Type="http://schemas.openxmlformats.org/officeDocument/2006/relationships/image" Target="/ppt/media/image47.png" Id="R251a0eb473bb4674" /><Relationship Type="http://schemas.openxmlformats.org/officeDocument/2006/relationships/image" Target="/ppt/media/image48.png" Id="R8f95c2445b5642e5" /><Relationship Type="http://schemas.openxmlformats.org/officeDocument/2006/relationships/image" Target="/ppt/media/image49.png" Id="R39d1fff5557f43f8" /><Relationship Type="http://schemas.openxmlformats.org/officeDocument/2006/relationships/image" Target="/ppt/media/image50.png" Id="R93f935fa9c0d4b6e" /><Relationship Type="http://schemas.openxmlformats.org/officeDocument/2006/relationships/image" Target="/ppt/media/image51.png" Id="R4b87a7ab76d94bdb" /><Relationship Type="http://schemas.openxmlformats.org/officeDocument/2006/relationships/image" Target="/ppt/media/image52.png" Id="R67a2e602a0894b20" /><Relationship Type="http://schemas.openxmlformats.org/officeDocument/2006/relationships/image" Target="/ppt/media/image53.png" Id="R62df1789b91f44c7" /><Relationship Type="http://schemas.openxmlformats.org/officeDocument/2006/relationships/image" Target="/ppt/media/image54.png" Id="R22929c21f8ca474f" /><Relationship Type="http://schemas.openxmlformats.org/officeDocument/2006/relationships/image" Target="/ppt/media/image55.png" Id="Rf513b86359054771" /><Relationship Type="http://schemas.openxmlformats.org/officeDocument/2006/relationships/image" Target="/ppt/media/image56.png" Id="R4852056118954e26" /><Relationship Type="http://schemas.openxmlformats.org/officeDocument/2006/relationships/notesSlide" Target="/ppt/notesSlides/notesSlide32.xml" Id="Rdaa1e0060c2044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4f0e8352e42ee" /><Relationship Type="http://schemas.openxmlformats.org/officeDocument/2006/relationships/notesSlide" Target="/ppt/notesSlides/notesSlide33.xml" Id="Radf9badb14e4445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手写 Encoder–Decoder</c:v>
          </c:tx>
          <c:spPr>
            <a:ln xmlns:a="http://schemas.openxmlformats.org/drawingml/2006/main" w="28575">
              <a:solidFill>
                <a:srgbClr val="173B63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0.48715467</c:v>
                </c:pt>
                <c:pt idx="1">
                  <c:v>0.42415121</c:v>
                </c:pt>
                <c:pt idx="2">
                  <c:v>0.51666006</c:v>
                </c:pt>
                <c:pt idx="3">
                  <c:v>0.54414235</c:v>
                </c:pt>
                <c:pt idx="4">
                  <c:v>0.55928748</c:v>
                </c:pt>
                <c:pt idx="5">
                  <c:v>0.57018335</c:v>
                </c:pt>
                <c:pt idx="6">
                  <c:v>0.60601846</c:v>
                </c:pt>
                <c:pt idx="7">
                  <c:v>0.55674045</c:v>
                </c:pt>
                <c:pt idx="8">
                  <c:v>0.5973251</c:v>
                </c:pt>
                <c:pt idx="9">
                  <c:v>0.62314643</c:v>
                </c:pt>
                <c:pt idx="10">
                  <c:v>0.6283265</c:v>
                </c:pt>
                <c:pt idx="11">
                  <c:v>0.65508277</c:v>
                </c:pt>
                <c:pt idx="12">
                  <c:v>0.63542708</c:v>
                </c:pt>
                <c:pt idx="13">
                  <c:v>0.65301941</c:v>
                </c:pt>
                <c:pt idx="14">
                  <c:v>0.68000313</c:v>
                </c:pt>
                <c:pt idx="15">
                  <c:v>0.64552842</c:v>
                </c:pt>
                <c:pt idx="16">
                  <c:v>0.67308507</c:v>
                </c:pt>
                <c:pt idx="17">
                  <c:v>0.68051276</c:v>
                </c:pt>
                <c:pt idx="18">
                  <c:v>0.67011488</c:v>
                </c:pt>
                <c:pt idx="19">
                  <c:v>0.66651664</c:v>
                </c:pt>
              </c:numCache>
            </c:numRef>
          </c:val>
          <c:smooth val="0"/>
        </c:ser>
        <c:ser>
          <c:idx val="1"/>
          <c:order val="1"/>
          <c:tx>
            <c:v>U-Net</c:v>
          </c:tx>
          <c:spPr>
            <a:ln xmlns:a="http://schemas.openxmlformats.org/drawingml/2006/main" w="28575">
              <a:solidFill>
                <a:srgbClr val="287AB7"/>
              </a:solidFill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0.0</c:formatCode>
                <c:ptCount val="20"/>
                <c:pt idx="0">
                  <c:v>0.38898455</c:v>
                </c:pt>
                <c:pt idx="1">
                  <c:v>0.52850641</c:v>
                </c:pt>
                <c:pt idx="2">
                  <c:v>0.43817402</c:v>
                </c:pt>
                <c:pt idx="3">
                  <c:v>0.53284731</c:v>
                </c:pt>
                <c:pt idx="4">
                  <c:v>0.55597152</c:v>
                </c:pt>
                <c:pt idx="5">
                  <c:v>0.58952854</c:v>
                </c:pt>
                <c:pt idx="6">
                  <c:v>0.59686371</c:v>
                </c:pt>
                <c:pt idx="7">
                  <c:v>0.56490253</c:v>
                </c:pt>
                <c:pt idx="8">
                  <c:v>0.58699961</c:v>
                </c:pt>
                <c:pt idx="9">
                  <c:v>0.60605669</c:v>
                </c:pt>
                <c:pt idx="10">
                  <c:v>0.63167458</c:v>
                </c:pt>
                <c:pt idx="11">
                  <c:v>0.65204995</c:v>
                </c:pt>
                <c:pt idx="12">
                  <c:v>0.63657536</c:v>
                </c:pt>
                <c:pt idx="13">
                  <c:v>0.66395522</c:v>
                </c:pt>
                <c:pt idx="14">
                  <c:v>0.66269314</c:v>
                </c:pt>
                <c:pt idx="15">
                  <c:v>0.6408595</c:v>
                </c:pt>
                <c:pt idx="16">
                  <c:v>0.62032257</c:v>
                </c:pt>
                <c:pt idx="17">
                  <c:v>0.68859421</c:v>
                </c:pt>
                <c:pt idx="18">
                  <c:v>0.66253555</c:v>
                </c:pt>
                <c:pt idx="19">
                  <c:v>0.64310586</c:v>
                </c:pt>
              </c:numCache>
            </c:numRef>
          </c:val>
          <c:smooth val="0"/>
        </c:ser>
        <c:ser>
          <c:idx val="2"/>
          <c:order val="2"/>
          <c:tx>
            <c:v>改进方案1</c:v>
          </c:tx>
          <c:spPr>
            <a:ln xmlns:a="http://schemas.openxmlformats.org/drawingml/2006/main" w="28575">
              <a:solidFill>
                <a:srgbClr val="D59632"/>
              </a:solidFill>
            </a:ln>
          </c:spPr>
          <c:marker>
            <c:symbol val="none"/>
          </c:marker>
          <c:cat>
            <c:numRef>
              <c:f>'Chart Data'!$E$2:$E$21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Data'!$F$2:$F$21</c:f>
              <c:numCache>
                <c:formatCode>0.0</c:formatCode>
                <c:ptCount val="20"/>
                <c:pt idx="0">
                  <c:v>0.62355745</c:v>
                </c:pt>
                <c:pt idx="1">
                  <c:v>0.72372646</c:v>
                </c:pt>
                <c:pt idx="2">
                  <c:v>0.75938877</c:v>
                </c:pt>
                <c:pt idx="3">
                  <c:v>0.75682565</c:v>
                </c:pt>
                <c:pt idx="4">
                  <c:v>0.78648537</c:v>
                </c:pt>
                <c:pt idx="5">
                  <c:v>0.8234521</c:v>
                </c:pt>
                <c:pt idx="6">
                  <c:v>0.81487222</c:v>
                </c:pt>
                <c:pt idx="7">
                  <c:v>0.80896893</c:v>
                </c:pt>
                <c:pt idx="8">
                  <c:v>0.82842032</c:v>
                </c:pt>
                <c:pt idx="9">
                  <c:v>0.84169438</c:v>
                </c:pt>
                <c:pt idx="10">
                  <c:v>0.84213374</c:v>
                </c:pt>
                <c:pt idx="11">
                  <c:v>0.79476778</c:v>
                </c:pt>
                <c:pt idx="12">
                  <c:v>0.85624002</c:v>
                </c:pt>
                <c:pt idx="13">
                  <c:v>0.84287851</c:v>
                </c:pt>
                <c:pt idx="14">
                  <c:v>0.85118069</c:v>
                </c:pt>
                <c:pt idx="15">
                  <c:v>0.86373408</c:v>
                </c:pt>
                <c:pt idx="16">
                  <c:v>0.82529817</c:v>
                </c:pt>
                <c:pt idx="17">
                  <c:v>0.86559068</c:v>
                </c:pt>
                <c:pt idx="18">
                  <c:v>0.8471319</c:v>
                </c:pt>
                <c:pt idx="19">
                  <c:v>0.8575278</c:v>
                </c:pt>
              </c:numCache>
            </c:numRef>
          </c:val>
          <c:smooth val="0"/>
        </c:ser>
        <c:ser>
          <c:idx val="3"/>
          <c:order val="3"/>
          <c:tx>
            <c:v>改进方案2</c:v>
          </c:tx>
          <c:spPr>
            <a:ln xmlns:a="http://schemas.openxmlformats.org/drawingml/2006/main" w="28575">
              <a:solidFill>
                <a:srgbClr val="299F97"/>
              </a:solidFill>
            </a:ln>
          </c:spPr>
          <c:marker>
            <c:symbol val="none"/>
          </c:marker>
          <c:cat>
            <c:numRef>
              <c:f>'Chart Data'!$G$2:$G$21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Data'!$H$2:$H$21</c:f>
              <c:numCache>
                <c:formatCode>0.0</c:formatCode>
                <c:ptCount val="20"/>
                <c:pt idx="0">
                  <c:v>0.93879237</c:v>
                </c:pt>
                <c:pt idx="1">
                  <c:v>0.95040674</c:v>
                </c:pt>
                <c:pt idx="2">
                  <c:v>0.94816437</c:v>
                </c:pt>
                <c:pt idx="3">
                  <c:v>0.9601238</c:v>
                </c:pt>
                <c:pt idx="4">
                  <c:v>0.95932897</c:v>
                </c:pt>
                <c:pt idx="5">
                  <c:v>0.9618891</c:v>
                </c:pt>
                <c:pt idx="6">
                  <c:v>0.96280669</c:v>
                </c:pt>
                <c:pt idx="7">
                  <c:v>0.96540944</c:v>
                </c:pt>
                <c:pt idx="8">
                  <c:v>0.96637599</c:v>
                </c:pt>
                <c:pt idx="9">
                  <c:v>0.96596602</c:v>
                </c:pt>
                <c:pt idx="10">
                  <c:v>0.96772544</c:v>
                </c:pt>
                <c:pt idx="11">
                  <c:v>0.96802513</c:v>
                </c:pt>
                <c:pt idx="12">
                  <c:v>0.96916586</c:v>
                </c:pt>
                <c:pt idx="13">
                  <c:v>0.96964843</c:v>
                </c:pt>
                <c:pt idx="14">
                  <c:v>0.96909984</c:v>
                </c:pt>
                <c:pt idx="15">
                  <c:v>0.96984792</c:v>
                </c:pt>
                <c:pt idx="16">
                  <c:v>0.97001739</c:v>
                </c:pt>
                <c:pt idx="17">
                  <c:v>0.96988732</c:v>
                </c:pt>
                <c:pt idx="18">
                  <c:v>0.96956156</c:v>
                </c:pt>
                <c:pt idx="19">
                  <c:v>0.96977242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C6B7E"/>
                    </a:solidFill>
                    <a:latin typeface="Arial Unicode MS"/>
                    <a:ea typeface="Arial Unicode MS"/>
                    <a:cs typeface="Arial Unicode MS"/>
                  </a:rPr>
                  <a:t>训练轮次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C6B7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53C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手写 Encoder–Decoder</c:v>
          </c:tx>
          <c:spPr>
            <a:ln xmlns:a="http://schemas.openxmlformats.org/drawingml/2006/main" w="28575">
              <a:solidFill>
                <a:srgbClr val="173B63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0.56391053</c:v>
                </c:pt>
                <c:pt idx="1">
                  <c:v>0.48073162</c:v>
                </c:pt>
                <c:pt idx="2">
                  <c:v>0.45828152</c:v>
                </c:pt>
                <c:pt idx="3">
                  <c:v>0.43401958</c:v>
                </c:pt>
                <c:pt idx="4">
                  <c:v>0.41474708</c:v>
                </c:pt>
                <c:pt idx="5">
                  <c:v>0.40672276</c:v>
                </c:pt>
                <c:pt idx="6">
                  <c:v>0.38286065</c:v>
                </c:pt>
                <c:pt idx="7">
                  <c:v>0.36816368</c:v>
                </c:pt>
                <c:pt idx="8">
                  <c:v>0.3527854</c:v>
                </c:pt>
                <c:pt idx="9">
                  <c:v>0.34824688</c:v>
                </c:pt>
                <c:pt idx="10">
                  <c:v>0.3334526</c:v>
                </c:pt>
                <c:pt idx="11">
                  <c:v>0.32960915</c:v>
                </c:pt>
                <c:pt idx="12">
                  <c:v>0.32117114</c:v>
                </c:pt>
                <c:pt idx="13">
                  <c:v>0.31778436</c:v>
                </c:pt>
                <c:pt idx="14">
                  <c:v>0.30806653</c:v>
                </c:pt>
                <c:pt idx="15">
                  <c:v>0.30029143</c:v>
                </c:pt>
                <c:pt idx="16">
                  <c:v>0.29561218</c:v>
                </c:pt>
                <c:pt idx="17">
                  <c:v>0.28793148</c:v>
                </c:pt>
                <c:pt idx="18">
                  <c:v>0.28938346</c:v>
                </c:pt>
                <c:pt idx="19">
                  <c:v>0.28286582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C6B7E"/>
                    </a:solidFill>
                    <a:latin typeface="Arial Unicode MS"/>
                    <a:ea typeface="Arial Unicode MS"/>
                    <a:cs typeface="Arial Unicode MS"/>
                  </a:rPr>
                  <a:t>训练轮次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C6B7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U-Net</c:v>
          </c:tx>
          <c:spPr>
            <a:ln xmlns:a="http://schemas.openxmlformats.org/drawingml/2006/main" w="28575">
              <a:solidFill>
                <a:srgbClr val="287AB7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0.56090763</c:v>
                </c:pt>
                <c:pt idx="1">
                  <c:v>0.47257701</c:v>
                </c:pt>
                <c:pt idx="2">
                  <c:v>0.4566536</c:v>
                </c:pt>
                <c:pt idx="3">
                  <c:v>0.43424721</c:v>
                </c:pt>
                <c:pt idx="4">
                  <c:v>0.40810937</c:v>
                </c:pt>
                <c:pt idx="5">
                  <c:v>0.40020782</c:v>
                </c:pt>
                <c:pt idx="6">
                  <c:v>0.37920128</c:v>
                </c:pt>
                <c:pt idx="7">
                  <c:v>0.37061113</c:v>
                </c:pt>
                <c:pt idx="8">
                  <c:v>0.35108285</c:v>
                </c:pt>
                <c:pt idx="9">
                  <c:v>0.34773537</c:v>
                </c:pt>
                <c:pt idx="10">
                  <c:v>0.33559264</c:v>
                </c:pt>
                <c:pt idx="11">
                  <c:v>0.33253345</c:v>
                </c:pt>
                <c:pt idx="12">
                  <c:v>0.3222785</c:v>
                </c:pt>
                <c:pt idx="13">
                  <c:v>0.3172841</c:v>
                </c:pt>
                <c:pt idx="14">
                  <c:v>0.30939359</c:v>
                </c:pt>
                <c:pt idx="15">
                  <c:v>0.30390299</c:v>
                </c:pt>
                <c:pt idx="16">
                  <c:v>0.30101896</c:v>
                </c:pt>
                <c:pt idx="17">
                  <c:v>0.29208428</c:v>
                </c:pt>
                <c:pt idx="18">
                  <c:v>0.29305215</c:v>
                </c:pt>
                <c:pt idx="19">
                  <c:v>0.29116697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C6B7E"/>
                    </a:solidFill>
                    <a:latin typeface="Arial Unicode MS"/>
                    <a:ea typeface="Arial Unicode MS"/>
                    <a:cs typeface="Arial Unicode MS"/>
                  </a:rPr>
                  <a:t>训练轮次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C6B7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改进方案1</c:v>
          </c:tx>
          <c:spPr>
            <a:ln xmlns:a="http://schemas.openxmlformats.org/drawingml/2006/main" w="28575">
              <a:solidFill>
                <a:srgbClr val="D59632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0.42573316</c:v>
                </c:pt>
                <c:pt idx="1">
                  <c:v>0.30153861</c:v>
                </c:pt>
                <c:pt idx="2">
                  <c:v>0.25408793</c:v>
                </c:pt>
                <c:pt idx="3">
                  <c:v>0.22979621</c:v>
                </c:pt>
                <c:pt idx="4">
                  <c:v>0.20550324</c:v>
                </c:pt>
                <c:pt idx="5">
                  <c:v>0.18908241</c:v>
                </c:pt>
                <c:pt idx="6">
                  <c:v>0.17187163</c:v>
                </c:pt>
                <c:pt idx="7">
                  <c:v>0.16002437</c:v>
                </c:pt>
                <c:pt idx="8">
                  <c:v>0.15259019</c:v>
                </c:pt>
                <c:pt idx="9">
                  <c:v>0.14134264</c:v>
                </c:pt>
                <c:pt idx="10">
                  <c:v>0.13074128</c:v>
                </c:pt>
                <c:pt idx="11">
                  <c:v>0.12229229</c:v>
                </c:pt>
                <c:pt idx="12">
                  <c:v>0.11235919</c:v>
                </c:pt>
                <c:pt idx="13">
                  <c:v>0.10653355</c:v>
                </c:pt>
                <c:pt idx="14">
                  <c:v>0.09865829</c:v>
                </c:pt>
                <c:pt idx="15">
                  <c:v>0.08878427</c:v>
                </c:pt>
                <c:pt idx="16">
                  <c:v>0.07933512</c:v>
                </c:pt>
                <c:pt idx="17">
                  <c:v>0.07736497</c:v>
                </c:pt>
                <c:pt idx="18">
                  <c:v>0.06653476</c:v>
                </c:pt>
                <c:pt idx="19">
                  <c:v>0.06164739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C6B7E"/>
                    </a:solidFill>
                    <a:latin typeface="Arial Unicode MS"/>
                    <a:ea typeface="Arial Unicode MS"/>
                    <a:cs typeface="Arial Unicode MS"/>
                  </a:rPr>
                  <a:t>训练轮次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C6B7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改进方案2</c:v>
          </c:tx>
          <c:spPr>
            <a:ln xmlns:a="http://schemas.openxmlformats.org/drawingml/2006/main" w="28575">
              <a:solidFill>
                <a:srgbClr val="299F97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0.21906236</c:v>
                </c:pt>
                <c:pt idx="1">
                  <c:v>0.08064548</c:v>
                </c:pt>
                <c:pt idx="2">
                  <c:v>0.05031868</c:v>
                </c:pt>
                <c:pt idx="3">
                  <c:v>0.03695945</c:v>
                </c:pt>
                <c:pt idx="4">
                  <c:v>0.02949375</c:v>
                </c:pt>
                <c:pt idx="5">
                  <c:v>0.02533612</c:v>
                </c:pt>
                <c:pt idx="6">
                  <c:v>0.02053141</c:v>
                </c:pt>
                <c:pt idx="7">
                  <c:v>0.01629974</c:v>
                </c:pt>
                <c:pt idx="8">
                  <c:v>0.01402778</c:v>
                </c:pt>
                <c:pt idx="9">
                  <c:v>0.01229385</c:v>
                </c:pt>
                <c:pt idx="10">
                  <c:v>0.01261125</c:v>
                </c:pt>
                <c:pt idx="11">
                  <c:v>0.01026682</c:v>
                </c:pt>
                <c:pt idx="12">
                  <c:v>0.0089761</c:v>
                </c:pt>
                <c:pt idx="13">
                  <c:v>0.0077912</c:v>
                </c:pt>
                <c:pt idx="14">
                  <c:v>0.00744151</c:v>
                </c:pt>
                <c:pt idx="15">
                  <c:v>0.00662048</c:v>
                </c:pt>
                <c:pt idx="16">
                  <c:v>0.00619612</c:v>
                </c:pt>
                <c:pt idx="17">
                  <c:v>0.00595096</c:v>
                </c:pt>
                <c:pt idx="18">
                  <c:v>0.00554157</c:v>
                </c:pt>
                <c:pt idx="19">
                  <c:v>0.00557168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C6B7E"/>
                    </a:solidFill>
                    <a:latin typeface="Arial Unicode MS"/>
                    <a:ea typeface="Arial Unicode MS"/>
                    <a:cs typeface="Arial Unicode MS"/>
                  </a:rPr>
                  <a:t>训练轮次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C6B7E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B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8459BC69-B536-4C4C-8A82-9C3D8AFB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C1D3E6"/>
                </a:solidFill>
                <a:latin typeface="Arial Unicode MS"/>
                <a:ea typeface="Arial Unicode MS"/>
                <a:cs typeface="Arial Unicode MS"/>
              </a:rPr>
              <a:t>实验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345466B-C71A-4BE7-B503-65AE043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宠物主体分割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166F5BA-43F5-4979-9AF0-9C613BAA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卷积编码器、解码器与小型 U-Net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5B22886-AB3A-4A2C-8FD8-EE94AD4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B8E1DD"/>
                </a:solidFill>
                <a:latin typeface="Arial Unicode MS"/>
                <a:ea typeface="Arial Unicode MS"/>
                <a:cs typeface="Arial Unicode MS"/>
              </a:rPr>
              <a:t>PyTorch 实验讲解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CD329AC-1F96-4587-A11D-5B2BA47D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rPr>
              <a:t>主讲：钟志诚    整理：曾有成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rPr>
              <a:t>中国科学技术大学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4DFEC"/>
                </a:solidFill>
                <a:latin typeface="Arial Unicode MS"/>
                <a:ea typeface="Arial Unicode MS"/>
                <a:cs typeface="Arial Unicode MS"/>
              </a:rPr>
              <a:t>人工智能与数据科学学院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FA9F-21D5-4653-8D5C-6CA402A77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07e1f47f54c48"/>
          <a:stretch xmlns:a="http://schemas.openxmlformats.org/drawingml/2006/main"/>
        </p:blipFill>
        <p:spPr>
          <a:xfrm xmlns:a="http://schemas.openxmlformats.org/drawingml/2006/main">
            <a:off x="7334250" y="2014538"/>
            <a:ext cx="4286250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45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4ACEB-D01B-4A32-AE21-ABF2D4377EB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43750" y="4000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F671C-F2AC-42CE-AB7F-6164E2F765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43750" y="20764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ACDB465B-7964-42F1-9E13-95C73400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每个像素都要回答：是不是宠物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CFBEDBAE-E3DE-450E-BBEF-C6C0546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8F6C145E-B0C8-4FB3-9E08-3AFCA6E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36BE2-B479-4EC7-BB6F-BB9C1D451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964746abd4a0d"/>
          <a:stretch xmlns:a="http://schemas.openxmlformats.org/drawingml/2006/main"/>
        </p:blipFill>
        <p:spPr>
          <a:xfrm xmlns:a="http://schemas.openxmlformats.org/drawingml/2006/main">
            <a:off x="645890" y="1447800"/>
            <a:ext cx="272777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diagram-9">
            <a:extLst xmlns:a="http://schemas.openxmlformats.org/drawingml/2006/main">
              <a:ext uri="{FF2B5EF4-FFF2-40B4-BE49-F238E27FC236}">
                <a16:creationId xmlns:a16="http://schemas.microsoft.com/office/drawing/2014/main" id="{1BACE27A-5AFC-4060-9A1B-4F67463E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47825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整张图的类别</a:t>
            </a:r>
          </a:p>
        </p:txBody>
      </p:sp>
      <p:sp>
        <p:nvSpPr>
          <p:cNvPr id="6" name="diagram-10">
            <a:extLst xmlns:a="http://schemas.openxmlformats.org/drawingml/2006/main">
              <a:ext uri="{FF2B5EF4-FFF2-40B4-BE49-F238E27FC236}">
                <a16:creationId xmlns:a16="http://schemas.microsoft.com/office/drawing/2014/main" id="{E2CE1BA4-C6FC-4752-8CFC-9D7857A6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47825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猫 / 狗 / 品种</a:t>
            </a:r>
          </a:p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993657B2-A1B0-4500-BBC1-9E056C87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336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图像分类</a:t>
            </a:r>
          </a:p>
        </p:txBody>
      </p:sp>
      <p:sp>
        <p:nvSpPr>
          <p:cNvPr id="9" name="diagram-12">
            <a:extLst xmlns:a="http://schemas.openxmlformats.org/drawingml/2006/main">
              <a:ext uri="{FF2B5EF4-FFF2-40B4-BE49-F238E27FC236}">
                <a16:creationId xmlns:a16="http://schemas.microsoft.com/office/drawing/2014/main" id="{CC45A278-ED13-4FA6-B154-19351F4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299F9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像素位置 (u, v)</a:t>
            </a:r>
          </a:p>
        </p:txBody>
      </p:sp>
      <p:sp>
        <p:nvSpPr>
          <p:cNvPr id="10" name="diagram-13">
            <a:extLst xmlns:a="http://schemas.openxmlformats.org/drawingml/2006/main">
              <a:ext uri="{FF2B5EF4-FFF2-40B4-BE49-F238E27FC236}">
                <a16:creationId xmlns:a16="http://schemas.microsoft.com/office/drawing/2014/main" id="{1A30C624-DCBB-4FFC-A113-F4293F5A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299F9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宠物 1 / 背景 0</a:t>
            </a:r>
          </a:p>
        </p:txBody>
      </p:sp>
      <p:sp>
        <p:nvSpPr>
          <p:cNvPr id="12" name="text-14">
            <a:extLst xmlns:a="http://schemas.openxmlformats.org/drawingml/2006/main">
              <a:ext uri="{FF2B5EF4-FFF2-40B4-BE49-F238E27FC236}">
                <a16:creationId xmlns:a16="http://schemas.microsoft.com/office/drawing/2014/main" id="{146471F8-3126-4D1A-ABE9-533A9EDD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主体分割：保留空间位置</a:t>
            </a:r>
          </a:p>
        </p:txBody>
      </p:sp>
      <p:sp>
        <p:nvSpPr>
          <p:cNvPr id="13" name="text-15">
            <a:extLst xmlns:a="http://schemas.openxmlformats.org/drawingml/2006/main">
              <a:ext uri="{FF2B5EF4-FFF2-40B4-BE49-F238E27FC236}">
                <a16:creationId xmlns:a16="http://schemas.microsoft.com/office/drawing/2014/main" id="{93874F72-E4AD-4FD1-BC5E-44795E6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本实验的输出是一张 128 × 128 的二值</a:t>
            </a:r>
            <a:r>
              <a: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掩码</a:t>
            </a:r>
          </a:p>
        </p:txBody>
      </p:sp>
    </p:spTree>
    <p:extLst>
      <p:ext uri="{BB962C8B-B14F-4D97-AF65-F5344CB8AC3E}">
        <p14:creationId xmlns:p14="http://schemas.microsoft.com/office/powerpoint/2010/main" val="1186149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F0C84-24E7-4032-8973-7220FDF26684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562975" y="36718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567A5-354C-44DE-9920-95A04BFE63C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53100" y="36718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751D5-BB0D-4C00-8127-5CB60EB2DE6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43225" y="36718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sp>
        <p:nvSpPr>
          <p:cNvPr id="28" name="text-1">
            <a:extLst xmlns:a="http://schemas.openxmlformats.org/drawingml/2006/main">
              <a:ext uri="{FF2B5EF4-FFF2-40B4-BE49-F238E27FC236}">
                <a16:creationId xmlns:a16="http://schemas.microsoft.com/office/drawing/2014/main" id="{FA2B1A5A-8DFA-4E1A-BEDC-08904FBB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卷积神经网络的基本组成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BFEDB81-259B-49B9-90D4-F47634CF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CNN 基础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2182C97-F25B-4720-8BCB-17899D43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B0EFDF8-2C8B-4BF1-9BAE-BAF72C9F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CNN（Convolutional Neural Network，卷积神经网络）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E4F958F-F4F0-4841-9D04-C570A868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局部像素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79BED2A-C0E7-49B4-9979-58C1148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卷积响应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85C598D-EFEE-49F7-B72D-F5729D54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激活后响应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3E24E971-4EE1-4D71-AE38-43B55473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池化后响应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EBF9E-3BB7-4857-AA96-6C1F268A3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23d359c564664"/>
          <a:stretch xmlns:a="http://schemas.openxmlformats.org/drawingml/2006/main"/>
        </p:blipFill>
        <p:spPr>
          <a:xfrm xmlns:a="http://schemas.openxmlformats.org/drawingml/2006/main">
            <a:off x="619125" y="25717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2A33C-1451-4584-AB6C-AED3048A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57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A23A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70BB0-C53B-409C-A4AB-1C77C16B2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36e3c9e24ac9"/>
          <a:stretch xmlns:a="http://schemas.openxmlformats.org/drawingml/2006/main"/>
        </p:blipFill>
        <p:spPr>
          <a:xfrm xmlns:a="http://schemas.openxmlformats.org/drawingml/2006/main">
            <a:off x="3429000" y="2571750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C8FEE-6A51-42F0-BAFF-3A4A70B6C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32b02730d4d3f"/>
          <a:stretch xmlns:a="http://schemas.openxmlformats.org/drawingml/2006/main"/>
        </p:blipFill>
        <p:spPr>
          <a:xfrm xmlns:a="http://schemas.openxmlformats.org/drawingml/2006/main">
            <a:off x="6238875" y="2571750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7143A-D386-430E-9AC7-42A0D5EE3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792437d9e466f"/>
          <a:stretch xmlns:a="http://schemas.openxmlformats.org/drawingml/2006/main"/>
        </p:blipFill>
        <p:spPr>
          <a:xfrm xmlns:a="http://schemas.openxmlformats.org/drawingml/2006/main">
            <a:off x="9591675" y="3124200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20B8D-2926-47D3-A437-4E324541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67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49225-8AB0-4B49-AE6F-521451E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67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C6D02-90AB-4D99-A0F9-F2BEB87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67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0CD74-4083-4027-B091-E4E76CF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67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47B33-B58B-4ABB-840F-A800500E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67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52A75-0918-4C49-85D8-002C603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67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text-9">
            <a:extLst xmlns:a="http://schemas.openxmlformats.org/drawingml/2006/main">
              <a:ext uri="{FF2B5EF4-FFF2-40B4-BE49-F238E27FC236}">
                <a16:creationId xmlns:a16="http://schemas.microsoft.com/office/drawing/2014/main" id="{9D3E47DC-80FE-4332-A204-D0A4F897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转为灰度后计算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黄框：一个局部窗口</a:t>
            </a:r>
          </a:p>
        </p:txBody>
      </p:sp>
      <p:sp>
        <p:nvSpPr>
          <p:cNvPr id="24" name="text-10">
            <a:extLst xmlns:a="http://schemas.openxmlformats.org/drawingml/2006/main">
              <a:ext uri="{FF2B5EF4-FFF2-40B4-BE49-F238E27FC236}">
                <a16:creationId xmlns:a16="http://schemas.microsoft.com/office/drawing/2014/main" id="{E916614F-FC1F-4F6D-BF99-16B60FE5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同一组核权重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提取局部变化</a:t>
            </a:r>
          </a:p>
        </p:txBody>
      </p:sp>
      <p:sp>
        <p:nvSpPr>
          <p:cNvPr id="25" name="text-11">
            <a:extLst xmlns:a="http://schemas.openxmlformats.org/drawingml/2006/main">
              <a:ext uri="{FF2B5EF4-FFF2-40B4-BE49-F238E27FC236}">
                <a16:creationId xmlns:a16="http://schemas.microsoft.com/office/drawing/2014/main" id="{2C368F85-FE4E-4CB5-B8CD-C277BF26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负值变为 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引入非线性</a:t>
            </a:r>
          </a:p>
        </p:txBody>
      </p:sp>
      <p:sp>
        <p:nvSpPr>
          <p:cNvPr id="26" name="text-12">
            <a:extLst xmlns:a="http://schemas.openxmlformats.org/drawingml/2006/main">
              <a:ext uri="{FF2B5EF4-FFF2-40B4-BE49-F238E27FC236}">
                <a16:creationId xmlns:a16="http://schemas.microsoft.com/office/drawing/2014/main" id="{CBE8293E-0A69-4967-A449-152E926D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局部取最大值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高、宽各减半</a:t>
            </a:r>
          </a:p>
        </p:txBody>
      </p:sp>
      <p:sp>
        <p:nvSpPr>
          <p:cNvPr id="27" name="text-13">
            <a:extLst xmlns:a="http://schemas.openxmlformats.org/drawingml/2006/main">
              <a:ext uri="{FF2B5EF4-FFF2-40B4-BE49-F238E27FC236}">
                <a16:creationId xmlns:a16="http://schemas.microsoft.com/office/drawing/2014/main" id="{E7AFA4C0-7A08-49B9-BD9A-7874809B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固定核教学演示，非训练结果。红：负响应；白：0；蓝：正响应。</a:t>
            </a:r>
          </a:p>
        </p:txBody>
      </p:sp>
    </p:spTree>
    <p:extLst>
      <p:ext uri="{BB962C8B-B14F-4D97-AF65-F5344CB8AC3E}">
        <p14:creationId xmlns:p14="http://schemas.microsoft.com/office/powerpoint/2010/main" val="548275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2436A-6360-453E-8A4B-FD297CEE77C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00900" y="3176588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0A02F-61EB-467C-A2B7-4E88D95A102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71900" y="3176588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7E5D658-58C8-4C0D-9A99-0974AB8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卷积核在局部窗口里计算</a:t>
            </a:r>
          </a:p>
        </p:txBody>
      </p:sp>
      <p:sp>
        <p:nvSpPr>
          <p:cNvPr id="2" name="text-15">
            <a:extLst xmlns:a="http://schemas.openxmlformats.org/drawingml/2006/main">
              <a:ext uri="{FF2B5EF4-FFF2-40B4-BE49-F238E27FC236}">
                <a16:creationId xmlns:a16="http://schemas.microsoft.com/office/drawing/2014/main" id="{DC7F6539-EEE3-41E8-9E3B-746621DF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CNN 基础</a:t>
            </a:r>
          </a:p>
        </p:txBody>
      </p:sp>
      <p:sp>
        <p:nvSpPr>
          <p:cNvPr id="3" name="text-16">
            <a:extLst xmlns:a="http://schemas.openxmlformats.org/drawingml/2006/main">
              <a:ext uri="{FF2B5EF4-FFF2-40B4-BE49-F238E27FC236}">
                <a16:creationId xmlns:a16="http://schemas.microsoft.com/office/drawing/2014/main" id="{938E4D32-DAA6-4460-B00C-88B6F3C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B0DF7D0F-DD1F-4FFC-80ED-CDE0361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输入：3 × 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5CC65-D29D-42E1-B9C5-A8A337772ECC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2857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952500"/>
                <a:gridCol w="952500"/>
              </a:tblGrid>
              <a:tr h="7620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E7A8200B-7C91-45C8-A6F5-45C6F5D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620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卷积核：2 × 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92869-447F-4A15-8A63-C40C42798FEF}"/>
              </a:ext>
            </a:extLst>
          </p:cNvPr>
          <p:cNvGraphicFramePr/>
          <p:nvPr/>
        </p:nvGraphicFramePr>
        <p:xfrm>
          <a:off xmlns:a="http://schemas.openxmlformats.org/drawingml/2006/main" x="4810125" y="2305050"/>
          <a:ext xmlns:a="http://schemas.openxmlformats.org/drawingml/2006/main" cx="2190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095375"/>
              </a:tblGrid>
              <a:tr h="85725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2B6B2BE3-DEA1-4778-A384-567D6C7E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620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输出：2 × 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FE176-3319-4F67-BB8B-0BAF78071D5F}"/>
              </a:ext>
            </a:extLst>
          </p:cNvPr>
          <p:cNvGraphicFramePr/>
          <p:nvPr/>
        </p:nvGraphicFramePr>
        <p:xfrm>
          <a:off xmlns:a="http://schemas.openxmlformats.org/drawingml/2006/main" x="8763000" y="2305050"/>
          <a:ext xmlns:a="http://schemas.openxmlformats.org/drawingml/2006/main" cx="2190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095375"/>
              </a:tblGrid>
              <a:tr h="85725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5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538D7-7E40-4641-9973-7DDA7EA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71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AB1E7-E313-4D5B-87B3-40ABC5F1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71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78D9D-6F40-43AB-AB53-F8BE162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1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74914-ACA3-4EF0-8E5D-DF683524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71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AA87B-71F5-423C-9A7F-76FC9D4C3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aa4c1a50a4943"/>
          <a:stretch xmlns:a="http://schemas.openxmlformats.org/drawingml/2006/main"/>
        </p:blipFill>
        <p:spPr>
          <a:xfrm xmlns:a="http://schemas.openxmlformats.org/drawingml/2006/main">
            <a:off x="2140036" y="4667250"/>
            <a:ext cx="7911928" cy="628650"/>
          </a:xfrm>
          <a:prstGeom xmlns:a="http://schemas.openxmlformats.org/drawingml/2006/main" prst="rect">
            <a:avLst/>
          </a:prstGeom>
        </p:spPr>
      </p:pic>
      <p:sp>
        <p:nvSpPr>
          <p:cNvPr id="17" name="text-20">
            <a:extLst xmlns:a="http://schemas.openxmlformats.org/drawingml/2006/main">
              <a:ext uri="{FF2B5EF4-FFF2-40B4-BE49-F238E27FC236}">
                <a16:creationId xmlns:a16="http://schemas.microsoft.com/office/drawing/2014/main" id="{759B5DF2-E649-41C3-B825-A0F5A47E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逐元素相乘，再求和。同一个核滑到下一个位置，重复计算。</a:t>
            </a:r>
          </a:p>
        </p:txBody>
      </p:sp>
    </p:spTree>
    <p:extLst>
      <p:ext uri="{BB962C8B-B14F-4D97-AF65-F5344CB8AC3E}">
        <p14:creationId xmlns:p14="http://schemas.microsoft.com/office/powerpoint/2010/main" val="1229319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89B0B-7BC4-4F0F-B529-2D23D914C46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48775" y="34718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sp>
        <p:nvSpPr>
          <p:cNvPr id="17" name="text-21">
            <a:extLst xmlns:a="http://schemas.openxmlformats.org/drawingml/2006/main">
              <a:ext uri="{FF2B5EF4-FFF2-40B4-BE49-F238E27FC236}">
                <a16:creationId xmlns:a16="http://schemas.microsoft.com/office/drawing/2014/main" id="{05AF56EE-B287-4DD0-A1BB-2477C6B1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激活改变数值，池化改变尺寸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299F24EC-C0C0-43E3-8A3D-4CBFCB0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CNN 基础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2575BBB6-DD5B-47BC-B273-FCF7B6F9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86A56324-AC2A-430F-89AB-BB9168B3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ReLU（Rectified Linear Unit）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2A456CFF-82AA-448C-85EA-D6D152C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76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修正线性单元：负值变为 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1E5E5-1A87-4A44-AF35-106DE353E517}"/>
              </a:ext>
            </a:extLst>
          </p:cNvPr>
          <p:cNvGraphicFramePr/>
          <p:nvPr/>
        </p:nvGraphicFramePr>
        <p:xfrm>
          <a:off xmlns:a="http://schemas.openxmlformats.org/drawingml/2006/main" x="619125" y="2714625"/>
          <a:ext xmlns:a="http://schemas.openxmlformats.org/drawingml/2006/main" cx="4953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1238250"/>
                <a:gridCol w="1238250"/>
              </a:tblGrid>
              <a:tr h="71437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AE8E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93B0A-D8FF-486E-977E-80DE359A7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5c29fe796480a"/>
          <a:stretch xmlns:a="http://schemas.openxmlformats.org/drawingml/2006/main"/>
        </p:blipFill>
        <p:spPr>
          <a:xfrm xmlns:a="http://schemas.openxmlformats.org/drawingml/2006/main">
            <a:off x="1571625" y="4609252"/>
            <a:ext cx="3000375" cy="554146"/>
          </a:xfrm>
          <a:prstGeom xmlns:a="http://schemas.openxmlformats.org/drawingml/2006/main" prst="rect">
            <a:avLst/>
          </a:prstGeom>
        </p:spPr>
      </p:pic>
      <p:sp>
        <p:nvSpPr>
          <p:cNvPr id="8" name="text-26">
            <a:extLst xmlns:a="http://schemas.openxmlformats.org/drawingml/2006/main">
              <a:ext uri="{FF2B5EF4-FFF2-40B4-BE49-F238E27FC236}">
                <a16:creationId xmlns:a16="http://schemas.microsoft.com/office/drawing/2014/main" id="{8EC3DA3B-0AA0-493D-9D82-2B3C031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z：激活前数值；输出尺寸不变</a:t>
            </a:r>
          </a:p>
        </p:txBody>
      </p:sp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D2FE399F-6D7B-4EC6-A126-59E3ABC3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620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2 × 2 最大池化，步长 2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92C01-09C9-49D7-B557-A75F7CC14427}"/>
              </a:ext>
            </a:extLst>
          </p:cNvPr>
          <p:cNvGraphicFramePr/>
          <p:nvPr/>
        </p:nvGraphicFramePr>
        <p:xfrm>
          <a:off xmlns:a="http://schemas.openxmlformats.org/drawingml/2006/main" x="6572250" y="2219325"/>
          <a:ext xmlns:a="http://schemas.openxmlformats.org/drawingml/2006/main" cx="2476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619125"/>
                <a:gridCol w="619125"/>
                <a:gridCol w="619125"/>
              </a:tblGrid>
              <a:tr h="6191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0F1F3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1AEBB-7C18-48A9-A04C-8A237981DC27}"/>
              </a:ext>
            </a:extLst>
          </p:cNvPr>
          <p:cNvGraphicFramePr/>
          <p:nvPr/>
        </p:nvGraphicFramePr>
        <p:xfrm>
          <a:off xmlns:a="http://schemas.openxmlformats.org/drawingml/2006/main" x="9906000" y="2857500"/>
          <a:ext xmlns:a="http://schemas.openxmlformats.org/drawingml/2006/main" cx="14859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742950"/>
              </a:tblGrid>
              <a:tr h="6191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4308A-D162-4F5D-B396-8696FAFF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C1412-48AC-409A-8E0B-C527FA9F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671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A7D6FA3B-4E63-49AD-AE01-BC76F2F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4 × 4 → 2 × 2</a:t>
            </a:r>
          </a:p>
        </p:txBody>
      </p:sp>
      <p:sp>
        <p:nvSpPr>
          <p:cNvPr id="16" name="text-29">
            <a:extLst xmlns:a="http://schemas.openxmlformats.org/drawingml/2006/main">
              <a:ext uri="{FF2B5EF4-FFF2-40B4-BE49-F238E27FC236}">
                <a16:creationId xmlns:a16="http://schemas.microsoft.com/office/drawing/2014/main" id="{9B660AA1-96B6-4DF7-8F2C-ECF4FD5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池化保留局部最大响应，也会丢失部分精确位置信息。</a:t>
            </a:r>
          </a:p>
        </p:txBody>
      </p:sp>
    </p:spTree>
    <p:extLst>
      <p:ext uri="{BB962C8B-B14F-4D97-AF65-F5344CB8AC3E}">
        <p14:creationId xmlns:p14="http://schemas.microsoft.com/office/powerpoint/2010/main" val="776174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">
            <a:extLst xmlns:a="http://schemas.openxmlformats.org/drawingml/2006/main">
              <a:ext uri="{FF2B5EF4-FFF2-40B4-BE49-F238E27FC236}">
                <a16:creationId xmlns:a16="http://schemas.microsoft.com/office/drawing/2014/main" id="{6BF9C4A9-3347-4E1A-B53E-91F0759C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层与层连接时，先核对维度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4B26E232-3C6B-4357-878D-B3DB973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CNN 基础</a:t>
            </a:r>
          </a:p>
        </p:txBody>
      </p:sp>
      <p:sp>
        <p:nvSpPr>
          <p:cNvPr id="3" name="text-32">
            <a:extLst xmlns:a="http://schemas.openxmlformats.org/drawingml/2006/main">
              <a:ext uri="{FF2B5EF4-FFF2-40B4-BE49-F238E27FC236}">
                <a16:creationId xmlns:a16="http://schemas.microsoft.com/office/drawing/2014/main" id="{33DEEBE4-7479-451E-ABEA-A6590EC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2E3A182F-E287-491A-A715-FBBD91B9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PyTorch 图像张量：[B, C, H, W]</a:t>
            </a:r>
          </a:p>
        </p:txBody>
      </p:sp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A3D10E11-80EA-4A88-A494-9DFDA524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B：批量图片数；C：通道数；H、W：高、宽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4A966-24F0-4BC2-9BAE-090F5CC74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bac478a7e404c"/>
          <a:stretch xmlns:a="http://schemas.openxmlformats.org/drawingml/2006/main"/>
        </p:blipFill>
        <p:spPr>
          <a:xfrm xmlns:a="http://schemas.openxmlformats.org/drawingml/2006/main">
            <a:off x="4300558" y="2714625"/>
            <a:ext cx="3590884" cy="857250"/>
          </a:xfrm>
          <a:prstGeom xmlns:a="http://schemas.openxmlformats.org/drawingml/2006/main" prst="rect">
            <a:avLst/>
          </a:prstGeom>
        </p:spPr>
      </p:pic>
      <p:sp>
        <p:nvSpPr>
          <p:cNvPr id="7" name="text-35">
            <a:extLst xmlns:a="http://schemas.openxmlformats.org/drawingml/2006/main">
              <a:ext uri="{FF2B5EF4-FFF2-40B4-BE49-F238E27FC236}">
                <a16:creationId xmlns:a16="http://schemas.microsoft.com/office/drawing/2014/main" id="{897C1F05-8D95-44A5-A33B-4C9E5A5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H 的下标 in / out 表示输入 / 输出，⌊·⌋ 表示向下取整。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k：核大小；p：每侧填充；s：步长。这里膨胀率为 1，宽度同理。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8216-D6FA-4A61-B03A-2DC9949F6C75}"/>
              </a:ext>
            </a:extLst>
          </p:cNvPr>
          <p:cNvGraphicFramePr/>
          <p:nvPr/>
        </p:nvGraphicFramePr>
        <p:xfrm>
          <a:off xmlns:a="http://schemas.openxmlformats.org/drawingml/2006/main" x="609600" y="4629150"/>
          <a:ext xmlns:a="http://schemas.openxmlformats.org/drawingml/2006/main" cx="109537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476625"/>
                <a:gridCol w="3476625"/>
              </a:tblGrid>
              <a:tr h="5080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5080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× 3 卷积，填充 1，步长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[B, 3, 128, 128]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[B, 16, 128, 128]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× 2 池化，步长 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[B, 16, 128, 128]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[B, 16, 64, 64]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098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4">
            <a:extLst xmlns:a="http://schemas.openxmlformats.org/drawingml/2006/main">
              <a:ext uri="{FF2B5EF4-FFF2-40B4-BE49-F238E27FC236}">
                <a16:creationId xmlns:a16="http://schemas.microsoft.com/office/drawing/2014/main" id="{030D46DA-F18F-4EC5-ACDA-83AC555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Oxford-IIIT Pet：真实宠物照片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8A4A1094-16BE-4978-BA13-99C846F4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数据集</a:t>
            </a:r>
          </a:p>
        </p:txBody>
      </p:sp>
      <p:sp>
        <p:nvSpPr>
          <p:cNvPr id="3" name="text-56">
            <a:extLst xmlns:a="http://schemas.openxmlformats.org/drawingml/2006/main">
              <a:ext uri="{FF2B5EF4-FFF2-40B4-BE49-F238E27FC236}">
                <a16:creationId xmlns:a16="http://schemas.microsoft.com/office/drawing/2014/main" id="{B55E0CE8-C7F8-4367-8F78-AA207698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C2ACC3EA-E230-4CEC-A6D2-83047920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37 个猫狗品种，7,349 张图片。本实验统一学习“宠物前景”。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3B199-DC92-4B3F-B487-46A02B0EB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e7303106d4b50"/>
          <a:stretch xmlns:a="http://schemas.openxmlformats.org/drawingml/2006/main"/>
        </p:blipFill>
        <p:spPr>
          <a:xfrm xmlns:a="http://schemas.openxmlformats.org/drawingml/2006/main">
            <a:off x="609600" y="2803922"/>
            <a:ext cx="2047875" cy="1535906"/>
          </a:xfrm>
          <a:prstGeom xmlns:a="http://schemas.openxmlformats.org/drawingml/2006/main" prst="rect">
            <a:avLst/>
          </a:prstGeom>
        </p:spPr>
      </p:pic>
      <p:sp>
        <p:nvSpPr>
          <p:cNvPr id="6" name="text-58">
            <a:extLst xmlns:a="http://schemas.openxmlformats.org/drawingml/2006/main">
              <a:ext uri="{FF2B5EF4-FFF2-40B4-BE49-F238E27FC236}">
                <a16:creationId xmlns:a16="http://schemas.microsoft.com/office/drawing/2014/main" id="{4A383305-851D-48F5-A67B-6A01C392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Bengal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5564C-040C-4857-957B-5F82D8933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7c2e27c644870"/>
          <a:stretch xmlns:a="http://schemas.openxmlformats.org/drawingml/2006/main"/>
        </p:blipFill>
        <p:spPr>
          <a:xfrm xmlns:a="http://schemas.openxmlformats.org/drawingml/2006/main">
            <a:off x="2828925" y="2206625"/>
            <a:ext cx="2047875" cy="2730500"/>
          </a:xfrm>
          <a:prstGeom xmlns:a="http://schemas.openxmlformats.org/drawingml/2006/main" prst="rect">
            <a:avLst/>
          </a:prstGeom>
        </p:spPr>
      </p:pic>
      <p:sp>
        <p:nvSpPr>
          <p:cNvPr id="8" name="text-59">
            <a:extLst xmlns:a="http://schemas.openxmlformats.org/drawingml/2006/main">
              <a:ext uri="{FF2B5EF4-FFF2-40B4-BE49-F238E27FC236}">
                <a16:creationId xmlns:a16="http://schemas.microsoft.com/office/drawing/2014/main" id="{9BAACA28-5344-451D-866C-8ED7FEA0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91125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Persian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F341F-7D49-4A6C-A929-E4D17C107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dffab3a0d40af"/>
          <a:stretch xmlns:a="http://schemas.openxmlformats.org/drawingml/2006/main"/>
        </p:blipFill>
        <p:spPr>
          <a:xfrm xmlns:a="http://schemas.openxmlformats.org/drawingml/2006/main">
            <a:off x="5048250" y="2889933"/>
            <a:ext cx="2047875" cy="1363885"/>
          </a:xfrm>
          <a:prstGeom xmlns:a="http://schemas.openxmlformats.org/drawingml/2006/main" prst="rect">
            <a:avLst/>
          </a:prstGeom>
        </p:spPr>
      </p:pic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DB05FE15-4C55-484D-BC92-6662CE60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91125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Siamese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D1F55-DC66-4654-BAA4-7CAA7319DE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c18afa54144e9"/>
          <a:stretch xmlns:a="http://schemas.openxmlformats.org/drawingml/2006/main"/>
        </p:blipFill>
        <p:spPr>
          <a:xfrm xmlns:a="http://schemas.openxmlformats.org/drawingml/2006/main">
            <a:off x="7267575" y="2840784"/>
            <a:ext cx="2047875" cy="1462183"/>
          </a:xfrm>
          <a:prstGeom xmlns:a="http://schemas.openxmlformats.org/drawingml/2006/main" prst="rect">
            <a:avLst/>
          </a:prstGeom>
        </p:spPr>
      </p:pic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5D1C5655-FD9A-4047-95FF-2E34573B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191125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samoyed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B3CBC-CFA7-4C55-B0B3-62F9FAD2D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f2b1b7ba64816"/>
          <a:stretch xmlns:a="http://schemas.openxmlformats.org/drawingml/2006/main"/>
        </p:blipFill>
        <p:spPr>
          <a:xfrm xmlns:a="http://schemas.openxmlformats.org/drawingml/2006/main">
            <a:off x="9559290" y="2143125"/>
            <a:ext cx="1903095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text-62">
            <a:extLst xmlns:a="http://schemas.openxmlformats.org/drawingml/2006/main">
              <a:ext uri="{FF2B5EF4-FFF2-40B4-BE49-F238E27FC236}">
                <a16:creationId xmlns:a16="http://schemas.microsoft.com/office/drawing/2014/main" id="{BDD6F116-3D2F-4640-BD76-955FFBAC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91125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english cocker spaniel</a:t>
            </a:r>
          </a:p>
        </p:txBody>
      </p:sp>
      <p:sp>
        <p:nvSpPr>
          <p:cNvPr id="15" name="text-63">
            <a:extLst xmlns:a="http://schemas.openxmlformats.org/drawingml/2006/main">
              <a:ext uri="{FF2B5EF4-FFF2-40B4-BE49-F238E27FC236}">
                <a16:creationId xmlns:a16="http://schemas.microsoft.com/office/drawing/2014/main" id="{38B4D5D0-08CC-49DD-81F7-FE885095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观察难点：毛发边界、姿态变化、相似背景和遮挡</a:t>
            </a:r>
          </a:p>
        </p:txBody>
      </p:sp>
    </p:spTree>
    <p:extLst>
      <p:ext uri="{BB962C8B-B14F-4D97-AF65-F5344CB8AC3E}">
        <p14:creationId xmlns:p14="http://schemas.microsoft.com/office/powerpoint/2010/main" val="2122028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4">
            <a:extLst xmlns:a="http://schemas.openxmlformats.org/drawingml/2006/main">
              <a:ext uri="{FF2B5EF4-FFF2-40B4-BE49-F238E27FC236}">
                <a16:creationId xmlns:a16="http://schemas.microsoft.com/office/drawing/2014/main" id="{1AD34387-2843-4BAA-856E-3D46503D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三值标注与本实验的二值目标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11F03458-73E7-40A4-A6CC-28C5E3D7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数据集</a:t>
            </a:r>
          </a:p>
        </p:txBody>
      </p:sp>
      <p:sp>
        <p:nvSpPr>
          <p:cNvPr id="3" name="text-66">
            <a:extLst xmlns:a="http://schemas.openxmlformats.org/drawingml/2006/main">
              <a:ext uri="{FF2B5EF4-FFF2-40B4-BE49-F238E27FC236}">
                <a16:creationId xmlns:a16="http://schemas.microsoft.com/office/drawing/2014/main" id="{D2C3CC5D-D664-4D46-96B6-E30E2D98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F955A-08A7-4724-8B86-5562BF8B4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ccdcd0cc74295"/>
          <a:stretch xmlns:a="http://schemas.openxmlformats.org/drawingml/2006/main"/>
        </p:blipFill>
        <p:spPr>
          <a:xfrm xmlns:a="http://schemas.openxmlformats.org/drawingml/2006/main">
            <a:off x="428625" y="1511141"/>
            <a:ext cx="7715250" cy="4397693"/>
          </a:xfrm>
          <a:prstGeom xmlns:a="http://schemas.openxmlformats.org/drawingml/2006/main" prst="rect">
            <a:avLst/>
          </a:prstGeom>
        </p:spPr>
      </p:pic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7C49A660-AB9E-458F-A42D-35D9776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90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原图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F58FC519-37C9-4D64-AE79-64004906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90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三值标注</a:t>
            </a:r>
          </a:p>
        </p:txBody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39EEA3D2-808E-4155-B54C-0600C503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190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训练目标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2EEF6654-E098-4A00-AF74-CF7D029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1  宠物前景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目标为 1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9FF23560-C560-4D39-A9AB-2B0B42B1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2  背景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目标为 0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046CFD60-FB7E-4A3C-9C71-04DD7C3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rPr>
              <a:t>3  未确定区域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C6474D"/>
                </a:solidFill>
                <a:latin typeface="Arial Unicode MS"/>
                <a:ea typeface="Arial Unicode MS"/>
                <a:cs typeface="Arial Unicode MS"/>
              </a:rPr>
              <a:t>损失与指标忽略</a:t>
            </a:r>
          </a:p>
        </p:txBody>
      </p:sp>
    </p:spTree>
    <p:extLst>
      <p:ext uri="{BB962C8B-B14F-4D97-AF65-F5344CB8AC3E}">
        <p14:creationId xmlns:p14="http://schemas.microsoft.com/office/powerpoint/2010/main" val="289000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3">
            <a:extLst xmlns:a="http://schemas.openxmlformats.org/drawingml/2006/main">
              <a:ext uri="{FF2B5EF4-FFF2-40B4-BE49-F238E27FC236}">
                <a16:creationId xmlns:a16="http://schemas.microsoft.com/office/drawing/2014/main" id="{488A6E66-EDE9-4634-BD08-F3F797D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固定划分与同步预处理</a:t>
            </a:r>
          </a:p>
        </p:txBody>
      </p:sp>
      <p:sp>
        <p:nvSpPr>
          <p:cNvPr id="2" name="text-74">
            <a:extLst xmlns:a="http://schemas.openxmlformats.org/drawingml/2006/main">
              <a:ext uri="{FF2B5EF4-FFF2-40B4-BE49-F238E27FC236}">
                <a16:creationId xmlns:a16="http://schemas.microsoft.com/office/drawing/2014/main" id="{AEE79070-5BF3-4889-BE2C-C41DE0B1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数据集</a:t>
            </a:r>
          </a:p>
        </p:txBody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F3A5DC77-BC8C-4E24-A814-DA4566D8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092F-EC11-4EC7-9113-8DDE43B75CE7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5375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095500"/>
                <a:gridCol w="6477000"/>
              </a:tblGrid>
              <a:tr h="6572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集合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6572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2,941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更新网络参数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选择网络、超参数与最佳轮次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3,669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选定模型后做最终评估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C2D21247-FCE2-44D2-8BD7-A00875E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统一缩放到 128 × 128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51C1F0E4-425C-49B3-A984-3293496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图片：双线性插值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标注：最近邻插值</a:t>
            </a:r>
          </a:p>
        </p:txBody>
      </p:sp>
      <p:sp>
        <p:nvSpPr>
          <p:cNvPr id="7" name="text-78">
            <a:extLst xmlns:a="http://schemas.openxmlformats.org/drawingml/2006/main">
              <a:ext uri="{FF2B5EF4-FFF2-40B4-BE49-F238E27FC236}">
                <a16:creationId xmlns:a16="http://schemas.microsoft.com/office/drawing/2014/main" id="{8AD8500A-04E2-4E51-A589-A89C7842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图片与</a:t>
            </a: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掩码</a:t>
            </a: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一起翻转</a:t>
            </a:r>
          </a:p>
        </p:txBody>
      </p:sp>
      <p:sp>
        <p:nvSpPr>
          <p:cNvPr id="8" name="text-79">
            <a:extLst xmlns:a="http://schemas.openxmlformats.org/drawingml/2006/main">
              <a:ext uri="{FF2B5EF4-FFF2-40B4-BE49-F238E27FC236}">
                <a16:creationId xmlns:a16="http://schemas.microsoft.com/office/drawing/2014/main" id="{4F722518-6998-4796-A50F-D94C378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随机增强仅用于训练集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三份名单互不相交</a:t>
            </a:r>
          </a:p>
        </p:txBody>
      </p:sp>
    </p:spTree>
    <p:extLst>
      <p:ext uri="{BB962C8B-B14F-4D97-AF65-F5344CB8AC3E}">
        <p14:creationId xmlns:p14="http://schemas.microsoft.com/office/powerpoint/2010/main" val="2021668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F8FE92-57B4-4785-9796-BDD9038727B7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0125075" y="35290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86B443-0188-454D-A54C-D9E87F63EBD8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8534400" y="35290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8CD8FC-DE90-4CD4-9142-FBA8BA543341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058025" y="35290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5740C1-C698-41C1-916D-7EBB5420F85C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5695950" y="35290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A79C34-66C3-4D14-AC55-3D1579198C79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371975" y="3529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7AB7"/>
            </a:solidFill>
            <a:tailEnd type="triangl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81C6E4-46D9-4036-A637-99BA7484B552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048000" y="35290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7AB7"/>
            </a:solidFill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4CA74-FB0C-4DDE-9732-84628FBA5D9C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724025" y="35290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7AB7"/>
            </a:solidFill>
            <a:tailEnd type="triangle" w="med" len="med"/>
          </a:ln>
        </p:spPr>
      </p:cxnSp>
      <p:sp>
        <p:nvSpPr>
          <p:cNvPr id="71" name="text-36">
            <a:extLst xmlns:a="http://schemas.openxmlformats.org/drawingml/2006/main">
              <a:ext uri="{FF2B5EF4-FFF2-40B4-BE49-F238E27FC236}">
                <a16:creationId xmlns:a16="http://schemas.microsoft.com/office/drawing/2014/main" id="{C5B39B9A-DE10-4481-A4C5-E9C4301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基础模型：编码器与解码器</a:t>
            </a:r>
          </a:p>
        </p:txBody>
      </p:sp>
      <p:sp>
        <p:nvSpPr>
          <p:cNvPr id="2" name="text-37">
            <a:extLst xmlns:a="http://schemas.openxmlformats.org/drawingml/2006/main">
              <a:ext uri="{FF2B5EF4-FFF2-40B4-BE49-F238E27FC236}">
                <a16:creationId xmlns:a16="http://schemas.microsoft.com/office/drawing/2014/main" id="{ABA784E0-14FF-48CF-890E-96E126E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编码器与解码器</a:t>
            </a:r>
          </a:p>
        </p:txBody>
      </p:sp>
      <p:sp>
        <p:nvSpPr>
          <p:cNvPr id="3" name="text-38">
            <a:extLst xmlns:a="http://schemas.openxmlformats.org/drawingml/2006/main">
              <a:ext uri="{FF2B5EF4-FFF2-40B4-BE49-F238E27FC236}">
                <a16:creationId xmlns:a16="http://schemas.microsoft.com/office/drawing/2014/main" id="{A11AA8BB-83DA-4FED-ABF6-CFDFFD7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text-39">
            <a:extLst xmlns:a="http://schemas.openxmlformats.org/drawingml/2006/main">
              <a:ext uri="{FF2B5EF4-FFF2-40B4-BE49-F238E27FC236}">
                <a16:creationId xmlns:a16="http://schemas.microsoft.com/office/drawing/2014/main" id="{9F517D60-6612-478B-82F2-8F12DB6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学生搭建编码器（Encoder / Backbone）与解码器（Decoder）</a:t>
            </a:r>
          </a:p>
        </p:txBody>
      </p:sp>
      <p:sp>
        <p:nvSpPr>
          <p:cNvPr id="5" name="text-40">
            <a:extLst xmlns:a="http://schemas.openxmlformats.org/drawingml/2006/main">
              <a:ext uri="{FF2B5EF4-FFF2-40B4-BE49-F238E27FC236}">
                <a16:creationId xmlns:a16="http://schemas.microsoft.com/office/drawing/2014/main" id="{0754B888-1925-41FD-A700-33039FB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414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空间变小 · 通道增多</a:t>
            </a:r>
          </a:p>
        </p:txBody>
      </p:sp>
      <p:sp>
        <p:nvSpPr>
          <p:cNvPr id="6" name="text-41">
            <a:extLst xmlns:a="http://schemas.openxmlformats.org/drawingml/2006/main">
              <a:ext uri="{FF2B5EF4-FFF2-40B4-BE49-F238E27FC236}">
                <a16:creationId xmlns:a16="http://schemas.microsoft.com/office/drawing/2014/main" id="{C5090CAC-F45C-4401-8C49-451047AC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47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空间变大 · 通道整体减少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3D6B6-97B2-407E-8CC9-336789B0DD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0f4a348c6463f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1F23-C4A0-44E3-B018-9B2AA7EA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861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4210C-F0BE-4A44-8206-5148558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100388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7F08-3679-4ED9-B9F8-5D6E9C3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1467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E91D6-B675-4731-82F9-9251801B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128963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D9802-ADCB-4073-BC56-6831E9D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53A45-35E2-4C31-9D67-8CDC430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95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2407C-7B3D-4CB2-9BF9-47AD6E8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126581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DD0F0-74B6-4BF5-895E-A5AA0CEF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57538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87BB0-6559-4B1E-9EA5-58848B8C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188494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4D268-39BB-4491-8B8B-98E19C76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194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7876-A20A-4C04-9B5B-2892FF30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109913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73A0D-ADFB-4643-8E38-E07CF0D6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681" y="3161109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B5988-570B-4E5F-91B3-E011FAF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3212306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D937E-05DB-48E0-AD46-A3FD9A65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94" y="3263503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A56D7-77C0-4F04-A14E-97927FA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08EC2-FBBD-4EF0-A690-132F839C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C2466-59EE-4900-B402-621F08F5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3126581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D7062-657D-43F1-9598-949C223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57538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B22A5-A58F-40D0-B151-90C14E75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013" y="3188494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1CC6B-8219-4172-958D-686D8357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1E97B-A129-4801-A4B6-CB9AAD94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7657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61123F-EA9A-462B-9880-523BCE9C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288" y="3093244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F7CBF-71B5-47C6-AE96-2E98203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9913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FD9AB8-040B-4D52-A657-F1B32100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3126581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144B5-D283-4624-995C-AB93F892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432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F15BA-73EC-4F5B-A32E-E5A25BE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6606B-C7BB-4998-AB1C-B0E407AF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950369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8EC92-3DD9-4A72-809D-E2E09E4C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67038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2EE0AE-68C7-415E-AC81-7D0FC6F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983706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A8F30C-94A7-47C7-AF82-8991C6B9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0375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5D198B-BE70-4BD6-9002-E33C6F26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098ECB-F316-46FC-A2EE-ED07976D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C409A1-A46A-4EFC-8228-92E4705C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ADDB66-BCB9-4413-8287-639415D2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BDDA04-EF56-47CD-B7F8-2A64AE4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63829A-5BD9-43A5-9B09-4EC0BE3A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277C12-03E6-47AF-A903-E58029D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4CE5CE-4D99-40E6-BC4F-6D669C2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D9B883-4BA8-4B7F-8E27-A163E5B5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C94E15-7ECB-4B10-ACB6-194EB425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B7C0FA-8445-4B5D-9FD9-6DC6BD5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AF2B02-92BA-40D7-80D1-66BC2A95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77E8A1-0F29-410B-B572-E92C2F9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55B6C7-6E3C-47AE-911A-04D444B6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2A808A-F120-492F-8516-DA93F5DF9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4d892174c4d87"/>
          <a:stretch xmlns:a="http://schemas.openxmlformats.org/drawingml/2006/main"/>
        </p:blipFill>
        <p:spPr>
          <a:xfrm xmlns:a="http://schemas.openxmlformats.org/drawingml/2006/main">
            <a:off x="10525125" y="30480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0" name="text-42">
            <a:extLst xmlns:a="http://schemas.openxmlformats.org/drawingml/2006/main">
              <a:ext uri="{FF2B5EF4-FFF2-40B4-BE49-F238E27FC236}">
                <a16:creationId xmlns:a16="http://schemas.microsoft.com/office/drawing/2014/main" id="{38B7B4DC-28D4-4298-8614-FB3DD0B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38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1" name="text-43">
            <a:extLst xmlns:a="http://schemas.openxmlformats.org/drawingml/2006/main">
              <a:ext uri="{FF2B5EF4-FFF2-40B4-BE49-F238E27FC236}">
                <a16:creationId xmlns:a16="http://schemas.microsoft.com/office/drawing/2014/main" id="{DC97EB9A-18D1-48D6-BE60-D0A9328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38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阶段 1</a:t>
            </a:r>
          </a:p>
        </p:txBody>
      </p:sp>
      <p:sp>
        <p:nvSpPr>
          <p:cNvPr id="62" name="text-44">
            <a:extLst xmlns:a="http://schemas.openxmlformats.org/drawingml/2006/main">
              <a:ext uri="{FF2B5EF4-FFF2-40B4-BE49-F238E27FC236}">
                <a16:creationId xmlns:a16="http://schemas.microsoft.com/office/drawing/2014/main" id="{AFC27F2B-2E7E-4B5F-A8B9-79B8B304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阶段 2</a:t>
            </a:r>
          </a:p>
        </p:txBody>
      </p:sp>
      <p:sp>
        <p:nvSpPr>
          <p:cNvPr id="63" name="text-45">
            <a:extLst xmlns:a="http://schemas.openxmlformats.org/drawingml/2006/main">
              <a:ext uri="{FF2B5EF4-FFF2-40B4-BE49-F238E27FC236}">
                <a16:creationId xmlns:a16="http://schemas.microsoft.com/office/drawing/2014/main" id="{22A21B33-5504-4665-91FF-A5FA630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38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最深特征</a:t>
            </a:r>
          </a:p>
        </p:txBody>
      </p:sp>
      <p:sp>
        <p:nvSpPr>
          <p:cNvPr id="64" name="text-46">
            <a:extLst xmlns:a="http://schemas.openxmlformats.org/drawingml/2006/main">
              <a:ext uri="{FF2B5EF4-FFF2-40B4-BE49-F238E27FC236}">
                <a16:creationId xmlns:a16="http://schemas.microsoft.com/office/drawing/2014/main" id="{1202B534-D70D-4D2D-AEB9-64EAAA89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恢复 1</a:t>
            </a:r>
          </a:p>
        </p:txBody>
      </p:sp>
      <p:sp>
        <p:nvSpPr>
          <p:cNvPr id="65" name="text-47">
            <a:extLst xmlns:a="http://schemas.openxmlformats.org/drawingml/2006/main">
              <a:ext uri="{FF2B5EF4-FFF2-40B4-BE49-F238E27FC236}">
                <a16:creationId xmlns:a16="http://schemas.microsoft.com/office/drawing/2014/main" id="{DBDC3F5B-107B-4546-850D-688E2085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38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恢复 2</a:t>
            </a:r>
          </a:p>
        </p:txBody>
      </p:sp>
      <p:sp>
        <p:nvSpPr>
          <p:cNvPr id="66" name="text-48">
            <a:extLst xmlns:a="http://schemas.openxmlformats.org/drawingml/2006/main">
              <a:ext uri="{FF2B5EF4-FFF2-40B4-BE49-F238E27FC236}">
                <a16:creationId xmlns:a16="http://schemas.microsoft.com/office/drawing/2014/main" id="{BBB1A409-D7B2-481F-893E-6C2F7FC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恢复 3</a:t>
            </a:r>
          </a:p>
        </p:txBody>
      </p:sp>
      <p:sp>
        <p:nvSpPr>
          <p:cNvPr id="67" name="text-49">
            <a:extLst xmlns:a="http://schemas.openxmlformats.org/drawingml/2006/main">
              <a:ext uri="{FF2B5EF4-FFF2-40B4-BE49-F238E27FC236}">
                <a16:creationId xmlns:a16="http://schemas.microsoft.com/office/drawing/2014/main" id="{67783787-4297-4DDF-8641-DB27AF10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238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输出目标</a:t>
            </a:r>
          </a:p>
        </p:txBody>
      </p:sp>
      <p:sp>
        <p:nvSpPr>
          <p:cNvPr id="68" name="text-50">
            <a:extLst xmlns:a="http://schemas.openxmlformats.org/drawingml/2006/main">
              <a:ext uri="{FF2B5EF4-FFF2-40B4-BE49-F238E27FC236}">
                <a16:creationId xmlns:a16="http://schemas.microsoft.com/office/drawing/2014/main" id="{E51E3C52-DA4B-453F-920D-243DFA1A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387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1 × 1 卷积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生成单通道得分</a:t>
            </a:r>
          </a:p>
        </p:txBody>
      </p:sp>
      <p:sp>
        <p:nvSpPr>
          <p:cNvPr id="69" name="text-51">
            <a:extLst xmlns:a="http://schemas.openxmlformats.org/drawingml/2006/main">
              <a:ext uri="{FF2B5EF4-FFF2-40B4-BE49-F238E27FC236}">
                <a16:creationId xmlns:a16="http://schemas.microsoft.com/office/drawing/2014/main" id="{3F15905A-4BB4-48B7-9B04-27CFD0D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正面大小：空间分辨率；叠层厚度：通道数（示意）。</a:t>
            </a:r>
          </a:p>
        </p:txBody>
      </p:sp>
      <p:sp>
        <p:nvSpPr>
          <p:cNvPr id="70" name="text-52">
            <a:extLst xmlns:a="http://schemas.openxmlformats.org/drawingml/2006/main">
              <a:ext uri="{FF2B5EF4-FFF2-40B4-BE49-F238E27FC236}">
                <a16:creationId xmlns:a16="http://schemas.microsoft.com/office/drawing/2014/main" id="{04B1C613-B58E-4EF8-8792-816838E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右侧展示目标标注；实际输出经概率变换与阈值判断后得到预测掩码。</a:t>
            </a:r>
          </a:p>
        </p:txBody>
      </p:sp>
    </p:spTree>
    <p:extLst>
      <p:ext uri="{BB962C8B-B14F-4D97-AF65-F5344CB8AC3E}">
        <p14:creationId xmlns:p14="http://schemas.microsoft.com/office/powerpoint/2010/main" val="367724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B01B7-D076-41A4-8B17-BF15848B12C6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439150" y="3481388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439CC-36B6-4995-8755-20AD3CADE557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629275" y="3481388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9B646-D24B-4F25-8FAC-62FE0390C674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724150" y="3481388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sp>
        <p:nvSpPr>
          <p:cNvPr id="36" name="text-53">
            <a:extLst xmlns:a="http://schemas.openxmlformats.org/drawingml/2006/main">
              <a:ext uri="{FF2B5EF4-FFF2-40B4-BE49-F238E27FC236}">
                <a16:creationId xmlns:a16="http://schemas.microsoft.com/office/drawing/2014/main" id="{3E10B08F-3210-4B33-BC54-0B921A1E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编码器：空间更小，特征通道更多</a:t>
            </a:r>
          </a:p>
        </p:txBody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605989DD-E5E4-4051-9AC1-E85670C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编码器与解码器</a:t>
            </a:r>
          </a:p>
        </p:txBody>
      </p:sp>
      <p:sp>
        <p:nvSpPr>
          <p:cNvPr id="3" name="text-55">
            <a:extLst xmlns:a="http://schemas.openxmlformats.org/drawingml/2006/main">
              <a:ext uri="{FF2B5EF4-FFF2-40B4-BE49-F238E27FC236}">
                <a16:creationId xmlns:a16="http://schemas.microsoft.com/office/drawing/2014/main" id="{82409F86-5D9F-4515-8D77-4D0A8901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5B9078DB-5858-427C-B57B-43C71DC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每个阶段：3 × 3 卷积 → ReLU → 2 × 2 池化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3DD8-7C9D-44B4-98DF-DE3B3C6C9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0b30e09fa46b0"/>
          <a:stretch xmlns:a="http://schemas.openxmlformats.org/drawingml/2006/main"/>
        </p:blipFill>
        <p:spPr>
          <a:xfrm xmlns:a="http://schemas.openxmlformats.org/drawingml/2006/main">
            <a:off x="666750" y="254317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7D00-2798-4744-8254-ED10D36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714625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5C477-5214-4ECC-A637-29C5CA4B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38" y="2731294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81D44-A280-4D3F-8CEA-7B11D8D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7963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1D931-E3E5-477D-A25F-0DC1AB9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2764631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69F21-75D1-429C-B60C-6787719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23F0D-D261-499A-8A16-34F07DBA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05125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A6C97-C4BB-40E8-8E19-F875BE3C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2940844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452A5-5478-4B91-A29A-0672908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5797E-3C6F-4654-B419-2A4ABB07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3012281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C099A-0944-4A06-82BD-87D7EE83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E80EE-4E11-4AA8-AC1F-D141330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014663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80439-07D4-4CD7-8C66-9C0AF7AB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006" y="3070622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D5616-F271-4CAA-9F48-CCF4077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3126581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909DF-B30A-4E7D-A4E2-7C728A9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169" y="3182541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202B5-9C61-4593-A398-CC9B268B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912CD-7BEF-4369-BCE6-911BE023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809BB-8EDB-455B-9735-1A6B5558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1C34A-D29A-4DC0-B4AD-8A2F098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D8660-DC41-4D5B-9C97-86C2EC5F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27545-1A0A-4F93-9FD9-7A3A81E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B0E19-52F4-4904-AEF6-C40541D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text-57">
            <a:extLst xmlns:a="http://schemas.openxmlformats.org/drawingml/2006/main">
              <a:ext uri="{FF2B5EF4-FFF2-40B4-BE49-F238E27FC236}">
                <a16:creationId xmlns:a16="http://schemas.microsoft.com/office/drawing/2014/main" id="{458C12BC-5BA2-4B6C-B4BC-97B408BA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输入图片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RGB 三通道</a:t>
            </a:r>
          </a:p>
        </p:txBody>
      </p:sp>
      <p:sp>
        <p:nvSpPr>
          <p:cNvPr id="31" name="text-58">
            <a:extLst xmlns:a="http://schemas.openxmlformats.org/drawingml/2006/main">
              <a:ext uri="{FF2B5EF4-FFF2-40B4-BE49-F238E27FC236}">
                <a16:creationId xmlns:a16="http://schemas.microsoft.com/office/drawing/2014/main" id="{23973E02-E844-446C-9829-944B198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9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阶段 1：e1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较高分辨率</a:t>
            </a:r>
          </a:p>
        </p:txBody>
      </p:sp>
      <p:sp>
        <p:nvSpPr>
          <p:cNvPr id="32" name="text-59">
            <a:extLst xmlns:a="http://schemas.openxmlformats.org/drawingml/2006/main">
              <a:ext uri="{FF2B5EF4-FFF2-40B4-BE49-F238E27FC236}">
                <a16:creationId xmlns:a16="http://schemas.microsoft.com/office/drawing/2014/main" id="{CFA03EAF-0C64-4B3B-B6CF-55007BC2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9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阶段 2：e2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中间尺度</a:t>
            </a:r>
          </a:p>
        </p:txBody>
      </p:sp>
      <p:sp>
        <p:nvSpPr>
          <p:cNvPr id="33" name="text-60">
            <a:extLst xmlns:a="http://schemas.openxmlformats.org/drawingml/2006/main">
              <a:ext uri="{FF2B5EF4-FFF2-40B4-BE49-F238E27FC236}">
                <a16:creationId xmlns:a16="http://schemas.microsoft.com/office/drawing/2014/main" id="{D297C3AF-5A33-4F5F-82C4-2323EABB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9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阶段 3：z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最深特征</a:t>
            </a:r>
          </a:p>
        </p:txBody>
      </p:sp>
      <p:sp>
        <p:nvSpPr>
          <p:cNvPr id="34" name="text-61">
            <a:extLst xmlns:a="http://schemas.openxmlformats.org/drawingml/2006/main">
              <a:ext uri="{FF2B5EF4-FFF2-40B4-BE49-F238E27FC236}">
                <a16:creationId xmlns:a16="http://schemas.microsoft.com/office/drawing/2014/main" id="{4E02439E-9CC7-4FAA-84D9-26BFBE1C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RGB（Red, Green, Blue）：红、绿、蓝。图中每一叠表示一组特征图。</a:t>
            </a:r>
          </a:p>
        </p:txBody>
      </p:sp>
      <p:sp>
        <p:nvSpPr>
          <p:cNvPr id="35" name="text-62">
            <a:extLst xmlns:a="http://schemas.openxmlformats.org/drawingml/2006/main">
              <a:ext uri="{FF2B5EF4-FFF2-40B4-BE49-F238E27FC236}">
                <a16:creationId xmlns:a16="http://schemas.microsoft.com/office/drawing/2014/main" id="{6FF1DF2F-64DE-4DD3-B1C3-C06040F3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卷积学习不同的响应；池化减少空间位置。e1、e2、z 都要保留。</a:t>
            </a:r>
          </a:p>
        </p:txBody>
      </p:sp>
    </p:spTree>
    <p:extLst>
      <p:ext uri="{BB962C8B-B14F-4D97-AF65-F5344CB8AC3E}">
        <p14:creationId xmlns:p14="http://schemas.microsoft.com/office/powerpoint/2010/main" val="186778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E7CE1C-3A78-49BA-B2CB-0175F763AFDB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05900" y="357663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6BB338-9C6F-4E4A-9FAE-65DE310E53B8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410325" y="35766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5C0AA-1086-42E5-B2F4-11EDA4825447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010025" y="3576638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03AE2-E314-42C1-8597-5E9FB5629650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895475" y="357663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sp>
        <p:nvSpPr>
          <p:cNvPr id="49" name="text-63">
            <a:extLst xmlns:a="http://schemas.openxmlformats.org/drawingml/2006/main">
              <a:ext uri="{FF2B5EF4-FFF2-40B4-BE49-F238E27FC236}">
                <a16:creationId xmlns:a16="http://schemas.microsoft.com/office/drawing/2014/main" id="{B5ED324F-8220-4537-A22D-CA2C2FE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解码器：逐步恢复逐像素输出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3EF6116A-86BC-424E-A55E-0CF3CD4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编码器与解码器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2B0E4CDB-D8C4-4852-82AE-33AC31C6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36C5BC67-FEA1-4A6D-9CD0-72ED75FD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每次先上采样扩大特征图，再用卷积学习组合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AD441-9467-49A7-BDA2-F340560C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575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4195A-060F-41B0-842A-57A7258B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146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35A9D-FB93-4C7C-9E36-E981CE9A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718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0656A-5C03-4ED7-9A0A-B075A39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289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F982C-4396-467C-A8CA-CD699AC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4595A-AFAB-463F-A07D-022248CD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52EEB-536C-4014-8AED-B911E95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064669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40511-F1F7-493F-83ED-BFA26BF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00388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01146-E795-4F99-9939-79C6643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136106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64FD6-AEC7-41DD-B82E-F6AE8C3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71825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8C5B3-36A6-4D6A-8367-88E2C7EA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19413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7D04E-C9F0-4EDC-B8C7-B98BF1F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444" y="2939653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BCA21-BF5D-43D9-95F9-82215CD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2959894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F6E78-024D-4D50-A2A4-33D6FC9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81" y="2980134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93A28-749C-4653-9784-3B03D9BC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D3CE3-7A12-4808-9394-72D94A4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28913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E72D4-470C-41F8-8521-A45EC30E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44" y="2749153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2EC05-4865-440D-AA86-7AD16182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2769394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16D1A-A836-446A-8649-C9164D96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481" y="2789634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39E5C-F335-4ECA-962C-3B82A08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22952-CE9E-4AB9-B3D7-1F87734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3029D-A2F9-4484-9620-BFE0CB6F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text-67">
            <a:extLst xmlns:a="http://schemas.openxmlformats.org/drawingml/2006/main">
              <a:ext uri="{FF2B5EF4-FFF2-40B4-BE49-F238E27FC236}">
                <a16:creationId xmlns:a16="http://schemas.microsoft.com/office/drawing/2014/main" id="{127A7873-4444-4962-8CB6-ABF6438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4787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上采样 × 2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 + ReLU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008D64-9B80-4C4A-B0E2-23C01E1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9A5A7-1561-4C10-B7C8-ED8FD4A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text-68">
            <a:extLst xmlns:a="http://schemas.openxmlformats.org/drawingml/2006/main">
              <a:ext uri="{FF2B5EF4-FFF2-40B4-BE49-F238E27FC236}">
                <a16:creationId xmlns:a16="http://schemas.microsoft.com/office/drawing/2014/main" id="{81B4C982-5194-4933-9575-5D4122FD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上采样 × 2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 + ReLU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778DB3-7797-4C53-B853-E2DFA8B1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F0AF87-CD59-4532-B162-484DC9F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text-69">
            <a:extLst xmlns:a="http://schemas.openxmlformats.org/drawingml/2006/main">
              <a:ext uri="{FF2B5EF4-FFF2-40B4-BE49-F238E27FC236}">
                <a16:creationId xmlns:a16="http://schemas.microsoft.com/office/drawing/2014/main" id="{928D6C47-9898-46DE-A168-698A45E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4787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上采样 × 2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 + ReLU</a:t>
            </a:r>
          </a:p>
        </p:txBody>
      </p:sp>
      <p:sp>
        <p:nvSpPr>
          <p:cNvPr id="37" name="text-70">
            <a:extLst xmlns:a="http://schemas.openxmlformats.org/drawingml/2006/main">
              <a:ext uri="{FF2B5EF4-FFF2-40B4-BE49-F238E27FC236}">
                <a16:creationId xmlns:a16="http://schemas.microsoft.com/office/drawing/2014/main" id="{47FB6898-FDD4-423D-9B02-149735C0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9107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最深特征</a:t>
            </a:r>
          </a:p>
        </p:txBody>
      </p:sp>
      <p:sp>
        <p:nvSpPr>
          <p:cNvPr id="38" name="text-71">
            <a:extLst xmlns:a="http://schemas.openxmlformats.org/drawingml/2006/main">
              <a:ext uri="{FF2B5EF4-FFF2-40B4-BE49-F238E27FC236}">
                <a16:creationId xmlns:a16="http://schemas.microsoft.com/office/drawing/2014/main" id="{DF14393A-96E6-41BE-BD03-64703079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91075"/>
            <a:ext cx="1666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恢复 1</a:t>
            </a:r>
          </a:p>
        </p:txBody>
      </p:sp>
      <p:sp>
        <p:nvSpPr>
          <p:cNvPr id="39" name="text-72">
            <a:extLst xmlns:a="http://schemas.openxmlformats.org/drawingml/2006/main">
              <a:ext uri="{FF2B5EF4-FFF2-40B4-BE49-F238E27FC236}">
                <a16:creationId xmlns:a16="http://schemas.microsoft.com/office/drawing/2014/main" id="{BB62A750-7CB7-4252-8C48-D088A04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恢复 2</a:t>
            </a:r>
          </a:p>
        </p:txBody>
      </p:sp>
      <p:sp>
        <p:nvSpPr>
          <p:cNvPr id="40" name="text-73">
            <a:extLst xmlns:a="http://schemas.openxmlformats.org/drawingml/2006/main">
              <a:ext uri="{FF2B5EF4-FFF2-40B4-BE49-F238E27FC236}">
                <a16:creationId xmlns:a16="http://schemas.microsoft.com/office/drawing/2014/main" id="{706F4BFD-F462-448E-851E-697CAA32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恢复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E12C9F-7B71-432E-980B-50E3AA3F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9875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84E1E2-E6E4-4CB3-8D3F-7990FC07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8B8E5-4BDA-47C3-BFBC-17E62474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71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text-74">
            <a:extLst xmlns:a="http://schemas.openxmlformats.org/drawingml/2006/main">
              <a:ext uri="{FF2B5EF4-FFF2-40B4-BE49-F238E27FC236}">
                <a16:creationId xmlns:a16="http://schemas.microsoft.com/office/drawing/2014/main" id="{9C37D48A-BD34-4FF1-A70F-AA8C529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1 × 1 卷积</a:t>
            </a:r>
          </a:p>
        </p:txBody>
      </p:sp>
      <p:sp>
        <p:nvSpPr>
          <p:cNvPr id="46" name="text-75">
            <a:extLst xmlns:a="http://schemas.openxmlformats.org/drawingml/2006/main">
              <a:ext uri="{FF2B5EF4-FFF2-40B4-BE49-F238E27FC236}">
                <a16:creationId xmlns:a16="http://schemas.microsoft.com/office/drawing/2014/main" id="{F3728F27-F108-437F-BA7F-75D88D9D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9107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单通道得分</a:t>
            </a:r>
          </a:p>
        </p:txBody>
      </p:sp>
      <p:sp>
        <p:nvSpPr>
          <p:cNvPr id="47" name="text-76">
            <a:extLst xmlns:a="http://schemas.openxmlformats.org/drawingml/2006/main">
              <a:ext uri="{FF2B5EF4-FFF2-40B4-BE49-F238E27FC236}">
                <a16:creationId xmlns:a16="http://schemas.microsoft.com/office/drawing/2014/main" id="{59B1848A-E39B-4DBC-86D1-18E79719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通道整体减少，部分阶段保持不变；输出头把多通道变为单通道。</a:t>
            </a:r>
          </a:p>
        </p:txBody>
      </p:sp>
      <p:sp>
        <p:nvSpPr>
          <p:cNvPr id="48" name="text-77">
            <a:extLst xmlns:a="http://schemas.openxmlformats.org/drawingml/2006/main">
              <a:ext uri="{FF2B5EF4-FFF2-40B4-BE49-F238E27FC236}">
                <a16:creationId xmlns:a16="http://schemas.microsoft.com/office/drawing/2014/main" id="{19F38795-CB53-4306-82CB-C500070E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插值能恢复尺寸，却无法凭空找回池化时丢失的细节。</a:t>
            </a:r>
          </a:p>
        </p:txBody>
      </p:sp>
    </p:spTree>
    <p:extLst>
      <p:ext uri="{BB962C8B-B14F-4D97-AF65-F5344CB8AC3E}">
        <p14:creationId xmlns:p14="http://schemas.microsoft.com/office/powerpoint/2010/main" val="13234615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C6E1A-0063-4CCA-A6A5-B3A36AC7343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86650" y="3052763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F5DA0-CEA7-4840-B9C4-100147C27FF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90900" y="3052763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sp>
        <p:nvSpPr>
          <p:cNvPr id="22" name="text-78">
            <a:extLst xmlns:a="http://schemas.openxmlformats.org/drawingml/2006/main">
              <a:ext uri="{FF2B5EF4-FFF2-40B4-BE49-F238E27FC236}">
                <a16:creationId xmlns:a16="http://schemas.microsoft.com/office/drawing/2014/main" id="{5DCEC311-7D9C-4D37-AF39-DD5C9980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单通道得分、概率与预测掩码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E4F49056-DBC5-43DA-9BD9-BE086DA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输出与评估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81E5E659-6DAF-4333-8CBF-F9C0DE8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4D3E3541-81A3-43E1-B4E1-7709FF2F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0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原始得分 z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066E3E7D-8433-4780-BE2E-26C620D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90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宠物概率 p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A913DF68-8D21-496A-B031-F64519D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90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预测掩码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D249A-EE8D-48FA-8C41-0842474631FA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25717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857250"/>
                <a:gridCol w="857250"/>
              </a:tblGrid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-1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5BB57-885C-4303-8D8B-468D40D7203A}"/>
              </a:ext>
            </a:extLst>
          </p:cNvPr>
          <p:cNvGraphicFramePr/>
          <p:nvPr/>
        </p:nvGraphicFramePr>
        <p:xfrm>
          <a:off xmlns:a="http://schemas.openxmlformats.org/drawingml/2006/main" x="4714875" y="2047875"/>
          <a:ext xmlns:a="http://schemas.openxmlformats.org/drawingml/2006/main" cx="25717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857250"/>
                <a:gridCol w="857250"/>
              </a:tblGrid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96B0D-19E9-4BF3-84CD-E460D7400F3B}"/>
              </a:ext>
            </a:extLst>
          </p:cNvPr>
          <p:cNvGraphicFramePr/>
          <p:nvPr/>
        </p:nvGraphicFramePr>
        <p:xfrm>
          <a:off xmlns:a="http://schemas.openxmlformats.org/drawingml/2006/main" x="8810625" y="2047875"/>
          <a:ext xmlns:a="http://schemas.openxmlformats.org/drawingml/2006/main" cx="25717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857250"/>
                <a:gridCol w="857250"/>
              </a:tblGrid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C6B7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299F97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299F97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C6B7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299F97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299F97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C6B7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5C6B7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299F9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FB48E-66EA-4CB2-B29A-BEEAA365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9E454-FDD0-423C-85AA-3D56910A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text-84">
            <a:extLst xmlns:a="http://schemas.openxmlformats.org/drawingml/2006/main">
              <a:ext uri="{FF2B5EF4-FFF2-40B4-BE49-F238E27FC236}">
                <a16:creationId xmlns:a16="http://schemas.microsoft.com/office/drawing/2014/main" id="{39EFF4F3-6164-435B-B22A-D38F35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Sigmoid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5A18F-8813-4BFB-85B9-67CC9A1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ED748-C0B4-4839-BF3A-95BF7A27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text-85">
            <a:extLst xmlns:a="http://schemas.openxmlformats.org/drawingml/2006/main">
              <a:ext uri="{FF2B5EF4-FFF2-40B4-BE49-F238E27FC236}">
                <a16:creationId xmlns:a16="http://schemas.microsoft.com/office/drawing/2014/main" id="{672D94F4-4D3B-4B22-AD1E-761CBAE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阈值 0.5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DD917-04C2-49FE-8B4A-EAE7C2419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04b9dc8784885"/>
          <a:stretch xmlns:a="http://schemas.openxmlformats.org/drawingml/2006/main"/>
        </p:blipFill>
        <p:spPr>
          <a:xfrm xmlns:a="http://schemas.openxmlformats.org/drawingml/2006/main">
            <a:off x="1430482" y="4381500"/>
            <a:ext cx="3044536" cy="76200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6172C-3078-488F-96A1-17EECCD48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7d37b8c464d55"/>
          <a:stretch xmlns:a="http://schemas.openxmlformats.org/drawingml/2006/main"/>
        </p:blipFill>
        <p:spPr>
          <a:xfrm xmlns:a="http://schemas.openxmlformats.org/drawingml/2006/main">
            <a:off x="7048500" y="4579531"/>
            <a:ext cx="3810000" cy="461189"/>
          </a:xfrm>
          <a:prstGeom xmlns:a="http://schemas.openxmlformats.org/drawingml/2006/main" prst="rect">
            <a:avLst/>
          </a:prstGeom>
        </p:spPr>
      </p:pic>
      <p:sp>
        <p:nvSpPr>
          <p:cNvPr id="20" name="text-86">
            <a:extLst xmlns:a="http://schemas.openxmlformats.org/drawingml/2006/main">
              <a:ext uri="{FF2B5EF4-FFF2-40B4-BE49-F238E27FC236}">
                <a16:creationId xmlns:a16="http://schemas.microsoft.com/office/drawing/2014/main" id="{1A9FBF82-CA78-4E6A-8C91-D6C1AD7F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625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σ 是 Sigmoid 函数；ŷ 是预测标签；1[条件] 在条件成立时取 1，否则取 0。</a:t>
            </a:r>
          </a:p>
        </p:txBody>
      </p:sp>
      <p:sp>
        <p:nvSpPr>
          <p:cNvPr id="21" name="text-87">
            <a:extLst xmlns:a="http://schemas.openxmlformats.org/drawingml/2006/main">
              <a:ext uri="{FF2B5EF4-FFF2-40B4-BE49-F238E27FC236}">
                <a16:creationId xmlns:a16="http://schemas.microsoft.com/office/drawing/2014/main" id="{C3EA9369-72E7-410C-B626-EB9C1FA6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训练交给损失函数的是原始得分。上述数字仅作教学演示。</a:t>
            </a:r>
          </a:p>
        </p:txBody>
      </p:sp>
    </p:spTree>
    <p:extLst>
      <p:ext uri="{BB962C8B-B14F-4D97-AF65-F5344CB8AC3E}">
        <p14:creationId xmlns:p14="http://schemas.microsoft.com/office/powerpoint/2010/main" val="2142793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8">
            <a:extLst xmlns:a="http://schemas.openxmlformats.org/drawingml/2006/main">
              <a:ext uri="{FF2B5EF4-FFF2-40B4-BE49-F238E27FC236}">
                <a16:creationId xmlns:a16="http://schemas.microsoft.com/office/drawing/2014/main" id="{CCCB37C0-474B-4185-8F48-33EDAD9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训练目标：只在有效像素上计算损失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98E8C995-3456-4739-B963-1396BA88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输出与评估</a:t>
            </a:r>
          </a:p>
        </p:txBody>
      </p:sp>
      <p:sp>
        <p:nvSpPr>
          <p:cNvPr id="3" name="text-90">
            <a:extLst xmlns:a="http://schemas.openxmlformats.org/drawingml/2006/main">
              <a:ext uri="{FF2B5EF4-FFF2-40B4-BE49-F238E27FC236}">
                <a16:creationId xmlns:a16="http://schemas.microsoft.com/office/drawing/2014/main" id="{7FE80DF0-B35A-46A2-8BEE-07C4DEC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7B7FDFFF-DD2A-4ACC-92E3-5970AA8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716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二元交叉熵衡量概率与标签的差异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BBAC3-1099-45B6-83E9-E06F2F9A4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6ce8392c3497d"/>
          <a:stretch xmlns:a="http://schemas.openxmlformats.org/drawingml/2006/main"/>
        </p:blipFill>
        <p:spPr>
          <a:xfrm xmlns:a="http://schemas.openxmlformats.org/drawingml/2006/main">
            <a:off x="2141872" y="2095500"/>
            <a:ext cx="7908257" cy="714375"/>
          </a:xfrm>
          <a:prstGeom xmlns:a="http://schemas.openxmlformats.org/drawingml/2006/main" prst="rect">
            <a:avLst/>
          </a:prstGeom>
        </p:spPr>
      </p:pic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BEE9ED2E-7AF0-45BA-B3C2-08FB83A6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y 是 0 或 1 的标签，p 是宠物概率，log 表示自然对数。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B61C7-AC1C-4E5B-A86A-E0237503CEF9}"/>
              </a:ext>
            </a:extLst>
          </p:cNvPr>
          <p:cNvGraphicFramePr/>
          <p:nvPr/>
        </p:nvGraphicFramePr>
        <p:xfrm>
          <a:off xmlns:a="http://schemas.openxmlformats.org/drawingml/2006/main" x="619125" y="3857625"/>
          <a:ext xmlns:a="http://schemas.openxmlformats.org/drawingml/2006/main" cx="10953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57625"/>
                <a:gridCol w="3857625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是否计入训练损失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是否计入评估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宠物 / 背景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原始标注值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忽略，梯度为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忽略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6D06E549-FC96-4E0B-BABE-984739C6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先对每张图片的有效像素取平均，再对批量图片取平均。</a:t>
            </a:r>
          </a:p>
        </p:txBody>
      </p:sp>
    </p:spTree>
    <p:extLst>
      <p:ext uri="{BB962C8B-B14F-4D97-AF65-F5344CB8AC3E}">
        <p14:creationId xmlns:p14="http://schemas.microsoft.com/office/powerpoint/2010/main" val="8672056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94">
            <a:extLst xmlns:a="http://schemas.openxmlformats.org/drawingml/2006/main">
              <a:ext uri="{FF2B5EF4-FFF2-40B4-BE49-F238E27FC236}">
                <a16:creationId xmlns:a16="http://schemas.microsoft.com/office/drawing/2014/main" id="{1E9597B6-2A7C-431F-ADF5-F02A24F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与 Dice：预测区域重合了多少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B954828-B3E0-4007-8744-E5102FE0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输出与评估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1E23DC90-3625-4AF1-854E-80215E6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3868AC34-2CA6-4CA4-B390-8F99C2B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IoU（Intersection over Union，交并比）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2C20D-5DDB-4020-A606-8A1081F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B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B3BDA-238E-47C0-A002-11A1177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09550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06048-563E-4419-9142-789F4DAB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9550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A2FCA-C4EF-4DAD-997A-50D60A16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9550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60E41-5A04-45BB-AE5D-57F0AFC8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B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0A8FD-EA6B-4AB8-A474-548EAA5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7652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44F82-7BA3-49C4-9E87-3F9B55A4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7652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763B1-FF1F-4EF2-B99C-5E1D9D0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7652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54CE-6A6D-4147-81A2-BEB55A2A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B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AB642-8399-4274-B4CA-639710B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5755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0094E-3221-4EA3-9087-74F0809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2B10D-A688-49FB-87B2-63E72E7D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5755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46662-2B69-49E4-AB89-C04C9CE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B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01A78-724E-4D31-901C-0B49319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3857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B675B-1FB4-451F-B238-03243575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3857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684C0-998A-4A5E-9FDF-731E2564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3857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4D98FAC6-F790-45FA-863C-F4B0455F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P：预测前景，共 12 格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G：真实前景，共 12 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709AC-8A20-47E7-A04B-9E2FA186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B7"/>
          </a:solidFill>
          <a:ln xmlns:a="http://schemas.openxmlformats.org/drawingml/2006/main" w="0">
            <a:solidFill>
              <a:srgbClr val="287AB7"/>
            </a:solidFill>
          </a:ln>
        </p:spPr>
      </p:sp>
      <p:sp>
        <p:nvSpPr>
          <p:cNvPr id="23" name="text-99">
            <a:extLst xmlns:a="http://schemas.openxmlformats.org/drawingml/2006/main">
              <a:ext uri="{FF2B5EF4-FFF2-40B4-BE49-F238E27FC236}">
                <a16:creationId xmlns:a16="http://schemas.microsoft.com/office/drawing/2014/main" id="{8711D0DB-EE14-46F8-B80B-69B374C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仅 P：4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60A8D-0ABE-4CA2-820B-E5602F48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76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F97"/>
          </a:solidFill>
          <a:ln xmlns:a="http://schemas.openxmlformats.org/drawingml/2006/main" w="0">
            <a:solidFill>
              <a:srgbClr val="299F97"/>
            </a:solidFill>
          </a:ln>
        </p:spPr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D5D8D0D2-3DD9-4699-A9CA-3D065238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3880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重合：8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00715-2C78-4E04-938E-4A7EF986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676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A"/>
          </a:solidFill>
          <a:ln xmlns:a="http://schemas.openxmlformats.org/drawingml/2006/main" w="0">
            <a:solidFill>
              <a:srgbClr val="E6A23A"/>
            </a:solidFill>
          </a:ln>
        </p:spPr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30A4ED04-34C7-4436-A551-3955418B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38800"/>
            <a:ext cx="1066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仅 G：4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80E70-300D-43F8-85C6-4587A8276F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30fc24320435f"/>
          <a:stretch xmlns:a="http://schemas.openxmlformats.org/drawingml/2006/main"/>
        </p:blipFill>
        <p:spPr>
          <a:xfrm xmlns:a="http://schemas.openxmlformats.org/drawingml/2006/main">
            <a:off x="5659312" y="1924050"/>
            <a:ext cx="1730626" cy="733425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D3417-30A0-44F7-BF18-FA803AA55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3b9b6160c4df7"/>
          <a:stretch xmlns:a="http://schemas.openxmlformats.org/drawingml/2006/main"/>
        </p:blipFill>
        <p:spPr>
          <a:xfrm xmlns:a="http://schemas.openxmlformats.org/drawingml/2006/main">
            <a:off x="8892040" y="1924050"/>
            <a:ext cx="2027920" cy="733425"/>
          </a:xfrm>
          <a:prstGeom xmlns:a="http://schemas.openxmlformats.org/drawingml/2006/main" prst="rect">
            <a:avLst/>
          </a:prstGeom>
        </p:spPr>
      </p:pic>
      <p:sp>
        <p:nvSpPr>
          <p:cNvPr id="30" name="text-102">
            <a:extLst xmlns:a="http://schemas.openxmlformats.org/drawingml/2006/main">
              <a:ext uri="{FF2B5EF4-FFF2-40B4-BE49-F238E27FC236}">
                <a16:creationId xmlns:a16="http://schemas.microsoft.com/office/drawing/2014/main" id="{81C5D7F0-D241-49D6-A546-9FD579D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19400"/>
            <a:ext cx="676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重合部分，占两者覆盖范围的比例</a:t>
            </a:r>
          </a:p>
        </p:txBody>
      </p:sp>
      <p:sp>
        <p:nvSpPr>
          <p:cNvPr id="31" name="text-103">
            <a:extLst xmlns:a="http://schemas.openxmlformats.org/drawingml/2006/main">
              <a:ext uri="{FF2B5EF4-FFF2-40B4-BE49-F238E27FC236}">
                <a16:creationId xmlns:a16="http://schemas.microsoft.com/office/drawing/2014/main" id="{278FEB59-6CB5-41EE-A9B6-10514909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并集包含误检、漏检和正确重合，共 16 格。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D859E-75D7-40E8-8E46-3881B874C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da76180a74adc"/>
          <a:stretch xmlns:a="http://schemas.openxmlformats.org/drawingml/2006/main"/>
        </p:blipFill>
        <p:spPr>
          <a:xfrm xmlns:a="http://schemas.openxmlformats.org/drawingml/2006/main">
            <a:off x="5392591" y="3886200"/>
            <a:ext cx="1978317" cy="733425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B79B8-5A64-4D3F-B3AD-D3EB7B913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307ad96ab4123"/>
          <a:stretch xmlns:a="http://schemas.openxmlformats.org/drawingml/2006/main"/>
        </p:blipFill>
        <p:spPr>
          <a:xfrm xmlns:a="http://schemas.openxmlformats.org/drawingml/2006/main">
            <a:off x="8239125" y="3913210"/>
            <a:ext cx="3333750" cy="679406"/>
          </a:xfrm>
          <a:prstGeom xmlns:a="http://schemas.openxmlformats.org/drawingml/2006/main" prst="rect">
            <a:avLst/>
          </a:prstGeom>
        </p:spPr>
      </p:pic>
      <p:sp>
        <p:nvSpPr>
          <p:cNvPr id="34" name="text-104">
            <a:extLst xmlns:a="http://schemas.openxmlformats.org/drawingml/2006/main">
              <a:ext uri="{FF2B5EF4-FFF2-40B4-BE49-F238E27FC236}">
                <a16:creationId xmlns:a16="http://schemas.microsoft.com/office/drawing/2014/main" id="{7941F131-097B-4628-9E67-6D95B38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72025"/>
            <a:ext cx="676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重合部分，相对于两份前景的总量</a:t>
            </a:r>
          </a:p>
        </p:txBody>
      </p:sp>
      <p:sp>
        <p:nvSpPr>
          <p:cNvPr id="35" name="text-105">
            <a:extLst xmlns:a="http://schemas.openxmlformats.org/drawingml/2006/main">
              <a:ext uri="{FF2B5EF4-FFF2-40B4-BE49-F238E27FC236}">
                <a16:creationId xmlns:a16="http://schemas.microsoft.com/office/drawing/2014/main" id="{B0BA4B72-30A7-459B-BE2B-319212F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578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两份前景合计 24 格，重合在分子中也计两次。</a:t>
            </a:r>
          </a:p>
        </p:txBody>
      </p:sp>
      <p:sp>
        <p:nvSpPr>
          <p:cNvPr id="36" name="text-106">
            <a:extLst xmlns:a="http://schemas.openxmlformats.org/drawingml/2006/main">
              <a:ext uri="{FF2B5EF4-FFF2-40B4-BE49-F238E27FC236}">
                <a16:creationId xmlns:a16="http://schemas.microsoft.com/office/drawing/2014/main" id="{83D0CA01-9E2F-432C-8AC3-DD40918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|·| 表示像素数；∩ 为交集，∪ 为并集。只看有效像素，最后逐图取平均。</a:t>
            </a:r>
          </a:p>
        </p:txBody>
      </p:sp>
    </p:spTree>
    <p:extLst>
      <p:ext uri="{BB962C8B-B14F-4D97-AF65-F5344CB8AC3E}">
        <p14:creationId xmlns:p14="http://schemas.microsoft.com/office/powerpoint/2010/main" val="2166209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6">
            <a:extLst xmlns:a="http://schemas.openxmlformats.org/drawingml/2006/main">
              <a:ext uri="{FF2B5EF4-FFF2-40B4-BE49-F238E27FC236}">
                <a16:creationId xmlns:a16="http://schemas.microsoft.com/office/drawing/2014/main" id="{10BA9ACA-387B-4982-A156-0D2F30E2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U-Net：让解码器接收浅层特征</a:t>
            </a:r>
          </a:p>
        </p:txBody>
      </p:sp>
      <p:sp>
        <p:nvSpPr>
          <p:cNvPr id="2" name="text-137">
            <a:extLst xmlns:a="http://schemas.openxmlformats.org/drawingml/2006/main">
              <a:ext uri="{FF2B5EF4-FFF2-40B4-BE49-F238E27FC236}">
                <a16:creationId xmlns:a16="http://schemas.microsoft.com/office/drawing/2014/main" id="{877F6627-AA59-46A2-AEF6-161B56D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小型 U-Net</a:t>
            </a:r>
          </a:p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C0436961-E4D1-437E-81B1-013489AD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1846-AC37-4FA7-A463-29531E3AA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ab1b4ebb24c1c"/>
          <a:stretch xmlns:a="http://schemas.openxmlformats.org/drawingml/2006/main"/>
        </p:blipFill>
        <p:spPr>
          <a:xfrm xmlns:a="http://schemas.openxmlformats.org/drawingml/2006/main">
            <a:off x="1073614" y="1390650"/>
            <a:ext cx="6663397" cy="4419600"/>
          </a:xfrm>
          <a:prstGeom xmlns:a="http://schemas.openxmlformats.org/drawingml/2006/main" prst="rect">
            <a:avLst/>
          </a:prstGeom>
        </p:spPr>
      </p:pic>
      <p:sp>
        <p:nvSpPr>
          <p:cNvPr id="5" name="text-139">
            <a:extLst xmlns:a="http://schemas.openxmlformats.org/drawingml/2006/main">
              <a:ext uri="{FF2B5EF4-FFF2-40B4-BE49-F238E27FC236}">
                <a16:creationId xmlns:a16="http://schemas.microsoft.com/office/drawing/2014/main" id="{51E3F52C-8268-4310-B4E1-832D1AD5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049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左侧：降低分辨率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学习更大范围的表示</a:t>
            </a:r>
          </a:p>
        </p:txBody>
      </p:sp>
      <p:sp>
        <p:nvSpPr>
          <p:cNvPr id="6" name="text-140">
            <a:extLst xmlns:a="http://schemas.openxmlformats.org/drawingml/2006/main">
              <a:ext uri="{FF2B5EF4-FFF2-40B4-BE49-F238E27FC236}">
                <a16:creationId xmlns:a16="http://schemas.microsoft.com/office/drawing/2014/main" id="{CA28AFDF-B18F-4C56-98FE-A5014FD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右侧：提高分辨率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恢复逐像素输出</a:t>
            </a:r>
          </a:p>
        </p:txBody>
      </p:sp>
      <p:sp>
        <p:nvSpPr>
          <p:cNvPr id="7" name="text-141">
            <a:extLst xmlns:a="http://schemas.openxmlformats.org/drawingml/2006/main">
              <a:ext uri="{FF2B5EF4-FFF2-40B4-BE49-F238E27FC236}">
                <a16:creationId xmlns:a16="http://schemas.microsoft.com/office/drawing/2014/main" id="{C546F7D1-F9F3-4858-96E0-77882EE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624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横向：传递浅层特征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补充定位细节</a:t>
            </a:r>
          </a:p>
        </p:txBody>
      </p:sp>
      <p:sp>
        <p:nvSpPr>
          <p:cNvPr id="8" name="text-142">
            <a:extLst xmlns:a="http://schemas.openxmlformats.org/drawingml/2006/main">
              <a:ext uri="{FF2B5EF4-FFF2-40B4-BE49-F238E27FC236}">
                <a16:creationId xmlns:a16="http://schemas.microsoft.com/office/drawing/2014/main" id="{94260FDD-0B27-4E73-B197-376E57F2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原论文结构示意。下一页使用本实验的简化配置。</a:t>
            </a:r>
          </a:p>
        </p:txBody>
      </p:sp>
    </p:spTree>
    <p:extLst>
      <p:ext uri="{BB962C8B-B14F-4D97-AF65-F5344CB8AC3E}">
        <p14:creationId xmlns:p14="http://schemas.microsoft.com/office/powerpoint/2010/main" val="19452923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21E6BC-28E2-4059-8D8B-9186943C7092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9153525" y="3519488"/>
            <a:ext cx="561975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118269-9DF0-47A1-8AC4-B4159A5FAC0B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6553200" y="4786313"/>
            <a:ext cx="13525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41EAC3-1914-45A9-B6A5-E86591CBC35A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4038600" y="4843463"/>
            <a:ext cx="128587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7AB7"/>
            </a:solidFill>
            <a:tailEnd type="triangl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5979B2-9527-47F4-800A-0194BA4740C6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457450" y="3529013"/>
            <a:ext cx="4953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7AB7"/>
            </a:solidFill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D7E460-C78C-4881-BCB6-70AC70E775A5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058025" y="4262438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02CDD5-9891-467E-812F-A2964747B92D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248150" y="426243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86248-50F1-4292-B08E-C68A3D7BDFEC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200900" y="2909888"/>
            <a:ext cx="2371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12319B-4091-466D-98FF-D776EFF5F1B8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2676525" y="2909888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sp>
        <p:nvSpPr>
          <p:cNvPr id="65" name="text-107">
            <a:extLst xmlns:a="http://schemas.openxmlformats.org/drawingml/2006/main">
              <a:ext uri="{FF2B5EF4-FFF2-40B4-BE49-F238E27FC236}">
                <a16:creationId xmlns:a16="http://schemas.microsoft.com/office/drawing/2014/main" id="{BA170C8D-9ADF-4379-90BB-AAFB14C1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进阶选做：小型 U-Net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F9083290-CE2F-4E85-9F08-D41D2E9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小型 U-Net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51361ABB-E68F-46C4-B1F9-CB19971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F5F3DD1D-B003-4CD6-AB2A-CDF5B1C9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跳跃连接把较高分辨率的特征，送到同尺度的解码阶段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9011F-BC26-4C11-A73B-C8ADCF4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240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A2BC3-919F-4494-8600-1E7FE45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2140744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FA2B3-E8FE-4D07-AE58-EC3459C3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7413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D7BE9-1761-441B-BE57-6C1CEB5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174081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0B187-B108-4A77-8985-4CCD881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E9BF6-147A-40A6-AB06-F74D829D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284C0-459B-4D23-AA26-01D966E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817144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89724-A719-4CA1-9C00-8C9FA1D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52863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CB8C0-466B-468C-8D88-049E67B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888581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0EB4C-D977-4DF4-A274-24865541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0749F-8682-4B51-8F47-1116660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863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F926F-5F54-4E5C-810B-E4AA7DA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938713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14DE9-3B98-48A0-AE96-A6787BC7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911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FCDAE-3ABE-4B0C-A16E-9E05E741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43488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F8817-D7A3-4922-8194-9C30C6A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958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70988-93C0-43E5-8CB4-6F257B00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81425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FA590-A3C3-4ACE-914E-4E197A32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817144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D3627-E49B-4AEA-84CC-74BFCBE0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2863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67988-CDA2-401A-A97B-CC7AE22B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888581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95CFC-21C7-4DFB-A3DB-4C0BA12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243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6353B-48C6-4ED5-9651-61E7B78C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240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4B6DD-A2D6-4842-A33B-D795541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2140744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23860-AC45-4991-AD51-AF1CDC2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57413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D220C-110D-40CE-A087-269869E6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88" y="2174081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00E38-7700-4018-89C4-A3C95D9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0" name="text-111">
            <a:extLst xmlns:a="http://schemas.openxmlformats.org/drawingml/2006/main">
              <a:ext uri="{FF2B5EF4-FFF2-40B4-BE49-F238E27FC236}">
                <a16:creationId xmlns:a16="http://schemas.microsoft.com/office/drawing/2014/main" id="{229A1799-A326-4B1B-85A1-376B48B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输入 → 编码阶段 1</a:t>
            </a:r>
          </a:p>
        </p:txBody>
      </p:sp>
      <p:sp>
        <p:nvSpPr>
          <p:cNvPr id="31" name="text-112">
            <a:extLst xmlns:a="http://schemas.openxmlformats.org/drawingml/2006/main">
              <a:ext uri="{FF2B5EF4-FFF2-40B4-BE49-F238E27FC236}">
                <a16:creationId xmlns:a16="http://schemas.microsoft.com/office/drawing/2014/main" id="{71732D86-F31D-4829-B5EA-4CE4CBC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恢复 → 输出头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4E592-D79A-4BDA-B1A3-8EE07F2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7F1D6-0FDF-4387-930A-DCF6DEC6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FA5372-D8CC-4B9D-9249-AB235014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FB9460-F3BB-4BFE-AC0F-9E670838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text-113">
            <a:extLst xmlns:a="http://schemas.openxmlformats.org/drawingml/2006/main">
              <a:ext uri="{FF2B5EF4-FFF2-40B4-BE49-F238E27FC236}">
                <a16:creationId xmlns:a16="http://schemas.microsoft.com/office/drawing/2014/main" id="{306AFB4B-5BC3-481A-89FC-DE9297F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955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e1 → 同尺度拼接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3085ED-0AE2-4DBE-AF16-09A48CA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57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FB2A26-0BB3-40AB-A8FC-9348241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EE75D4-D8C4-476E-85AD-C5180D05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57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C42767-7E87-428F-BCFC-4A3118F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57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text-114">
            <a:extLst xmlns:a="http://schemas.openxmlformats.org/drawingml/2006/main">
              <a:ext uri="{FF2B5EF4-FFF2-40B4-BE49-F238E27FC236}">
                <a16:creationId xmlns:a16="http://schemas.microsoft.com/office/drawing/2014/main" id="{8DC2AB05-3736-40CA-8216-891C5702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576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e2 → 拼接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EE3433-9927-4D0D-802B-B3065DC0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24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5271BB-464D-4452-92AA-4D9D952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D06413-2653-4539-858C-3E8876B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838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E17E2D-F4C5-4A1A-A471-4D9FA17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43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FE38DB-B6F0-4E0B-96F3-E8791635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34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D9DBD1-7FE0-4586-BBF2-1D543EED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9240C1-6997-439D-AFF0-8126184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D874D3-5AD3-4A00-96AA-6AECD0C6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147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text-115">
            <a:extLst xmlns:a="http://schemas.openxmlformats.org/drawingml/2006/main">
              <a:ext uri="{FF2B5EF4-FFF2-40B4-BE49-F238E27FC236}">
                <a16:creationId xmlns:a16="http://schemas.microsoft.com/office/drawing/2014/main" id="{B95FE052-EC4D-4DE9-BFBB-198D13EF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76625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e1</a:t>
            </a:r>
          </a:p>
        </p:txBody>
      </p:sp>
      <p:sp>
        <p:nvSpPr>
          <p:cNvPr id="59" name="text-116">
            <a:extLst xmlns:a="http://schemas.openxmlformats.org/drawingml/2006/main">
              <a:ext uri="{FF2B5EF4-FFF2-40B4-BE49-F238E27FC236}">
                <a16:creationId xmlns:a16="http://schemas.microsoft.com/office/drawing/2014/main" id="{66FB0968-FCF1-4EC1-9154-35DDB45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4822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e2</a:t>
            </a:r>
          </a:p>
        </p:txBody>
      </p:sp>
      <p:sp>
        <p:nvSpPr>
          <p:cNvPr id="60" name="text-117">
            <a:extLst xmlns:a="http://schemas.openxmlformats.org/drawingml/2006/main">
              <a:ext uri="{FF2B5EF4-FFF2-40B4-BE49-F238E27FC236}">
                <a16:creationId xmlns:a16="http://schemas.microsoft.com/office/drawing/2014/main" id="{9AF00E88-E786-4E01-A92B-F3D8BA6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最深特征 z</a:t>
            </a:r>
          </a:p>
        </p:txBody>
      </p:sp>
      <p:sp>
        <p:nvSpPr>
          <p:cNvPr id="61" name="text-118">
            <a:extLst xmlns:a="http://schemas.openxmlformats.org/drawingml/2006/main">
              <a:ext uri="{FF2B5EF4-FFF2-40B4-BE49-F238E27FC236}">
                <a16:creationId xmlns:a16="http://schemas.microsoft.com/office/drawing/2014/main" id="{9938C665-8C6A-4564-8593-5DD16F45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d2</a:t>
            </a:r>
          </a:p>
        </p:txBody>
      </p:sp>
      <p:sp>
        <p:nvSpPr>
          <p:cNvPr id="62" name="text-119">
            <a:extLst xmlns:a="http://schemas.openxmlformats.org/drawingml/2006/main">
              <a:ext uri="{FF2B5EF4-FFF2-40B4-BE49-F238E27FC236}">
                <a16:creationId xmlns:a16="http://schemas.microsoft.com/office/drawing/2014/main" id="{241D2DD1-9DC5-41E0-BFAF-2A08725F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95675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d1</a:t>
            </a:r>
          </a:p>
        </p:txBody>
      </p:sp>
      <p:sp>
        <p:nvSpPr>
          <p:cNvPr id="63" name="text-120">
            <a:extLst xmlns:a="http://schemas.openxmlformats.org/drawingml/2006/main">
              <a:ext uri="{FF2B5EF4-FFF2-40B4-BE49-F238E27FC236}">
                <a16:creationId xmlns:a16="http://schemas.microsoft.com/office/drawing/2014/main" id="{4A2135D4-35EF-4F7F-B2B2-938262B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左：卷积与池化</a:t>
            </a:r>
          </a:p>
        </p:txBody>
      </p:sp>
      <p:sp>
        <p:nvSpPr>
          <p:cNvPr id="64" name="text-121">
            <a:extLst xmlns:a="http://schemas.openxmlformats.org/drawingml/2006/main">
              <a:ext uri="{FF2B5EF4-FFF2-40B4-BE49-F238E27FC236}">
                <a16:creationId xmlns:a16="http://schemas.microsoft.com/office/drawing/2014/main" id="{717109A2-8C28-4C8C-BF44-D6D1FB4A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292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右：上采样、拼接、融合卷积</a:t>
            </a:r>
          </a:p>
        </p:txBody>
      </p:sp>
    </p:spTree>
    <p:extLst>
      <p:ext uri="{BB962C8B-B14F-4D97-AF65-F5344CB8AC3E}">
        <p14:creationId xmlns:p14="http://schemas.microsoft.com/office/powerpoint/2010/main" val="1727498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7D359-85E9-4154-9919-14EBDE80C173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248650" y="3881438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37F92-78F6-4D1F-B70C-306E54C42358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534025" y="4071938"/>
            <a:ext cx="561975" cy="790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AF996-422A-4F9C-AA20-0028821AB4C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534025" y="3052763"/>
            <a:ext cx="56197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7AB7"/>
            </a:solidFill>
            <a:tailEnd type="triangle" w="med" len="med"/>
          </a:ln>
        </p:spPr>
      </p:cxnSp>
      <p:sp>
        <p:nvSpPr>
          <p:cNvPr id="40" name="text-122">
            <a:extLst xmlns:a="http://schemas.openxmlformats.org/drawingml/2006/main">
              <a:ext uri="{FF2B5EF4-FFF2-40B4-BE49-F238E27FC236}">
                <a16:creationId xmlns:a16="http://schemas.microsoft.com/office/drawing/2014/main" id="{80E4F1C3-C685-4B16-BC08-ED24085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跳跃连接：对齐、拼接、融合</a:t>
            </a:r>
          </a:p>
        </p:txBody>
      </p:sp>
      <p:sp>
        <p:nvSpPr>
          <p:cNvPr id="2" name="text-123">
            <a:extLst xmlns:a="http://schemas.openxmlformats.org/drawingml/2006/main">
              <a:ext uri="{FF2B5EF4-FFF2-40B4-BE49-F238E27FC236}">
                <a16:creationId xmlns:a16="http://schemas.microsoft.com/office/drawing/2014/main" id="{A4D595B1-7346-4798-8F42-6AEFED2C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小型 U-Net</a:t>
            </a:r>
          </a:p>
        </p:txBody>
      </p:sp>
      <p:sp>
        <p:nvSpPr>
          <p:cNvPr id="3" name="text-124">
            <a:extLst xmlns:a="http://schemas.openxmlformats.org/drawingml/2006/main">
              <a:ext uri="{FF2B5EF4-FFF2-40B4-BE49-F238E27FC236}">
                <a16:creationId xmlns:a16="http://schemas.microsoft.com/office/drawing/2014/main" id="{F46CABE3-A776-48F0-B04F-B0F90C1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text-125">
            <a:extLst xmlns:a="http://schemas.openxmlformats.org/drawingml/2006/main">
              <a:ext uri="{FF2B5EF4-FFF2-40B4-BE49-F238E27FC236}">
                <a16:creationId xmlns:a16="http://schemas.microsoft.com/office/drawing/2014/main" id="{5C329BAF-B7F8-427A-A5CA-EDA3E26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先把深层特征上采样，使它与跳跃特征的高、宽一致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AA7E9-7DC9-423F-9BE6-0474F3BD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7438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4580A-5B22-4C18-A152-A8F9D2B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31" y="2399109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4AAB4-77F2-4BB9-B621-4139808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440781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07A74-72F2-4CD5-9EDD-41ACFBE0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4" y="2482453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D2332-DF25-4F92-BF7A-8FFB6F5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87A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6DA58-5071-4484-ACB3-04C4CDF1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F93F8-939E-4257-9DF9-83F7E2F9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4269581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9576C-295A-470A-91A6-9D485553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91013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66337-FD9A-4A74-B4FB-E0C9FC1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4312444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A68AD-F46F-4135-AA51-91575CD5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15" name="text-126">
            <a:extLst xmlns:a="http://schemas.openxmlformats.org/drawingml/2006/main">
              <a:ext uri="{FF2B5EF4-FFF2-40B4-BE49-F238E27FC236}">
                <a16:creationId xmlns:a16="http://schemas.microsoft.com/office/drawing/2014/main" id="{DE2F0BF1-F373-4E80-812F-ADBCE536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上采样后的深层特征</a:t>
            </a:r>
          </a:p>
        </p:txBody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DA7B2D81-4384-4025-B601-DA817DC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来自编码器的浅层特征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97CCF-6F15-4333-9F75-5B073E1D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B84BF-9770-4A0B-A094-727DE1DF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8FB56-2381-4E10-BA58-9990EF3E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D97AD-F144-44B0-AF8A-5FAE3E2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67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A58D2-9745-43CC-A237-41059E75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4188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864B8-A6CB-4E33-822A-38C72B57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406" y="3089672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0D820-69FD-4173-8EBB-90793C38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155156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01E2D-A887-445E-AFFA-1F84C8E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469" y="3220641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3E45F-A9BF-4243-8CE0-2750BB03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28" name="text-128">
            <a:extLst xmlns:a="http://schemas.openxmlformats.org/drawingml/2006/main">
              <a:ext uri="{FF2B5EF4-FFF2-40B4-BE49-F238E27FC236}">
                <a16:creationId xmlns:a16="http://schemas.microsoft.com/office/drawing/2014/main" id="{95A438AD-B1B6-4975-9A20-C7BE69B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250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通道拼接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空间不变，通道相加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B9D4C-2628-4455-BE05-59B3A61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2EAADC-A3B1-4D1F-A1AE-8FA0D84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76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text-129">
            <a:extLst xmlns:a="http://schemas.openxmlformats.org/drawingml/2006/main">
              <a:ext uri="{FF2B5EF4-FFF2-40B4-BE49-F238E27FC236}">
                <a16:creationId xmlns:a16="http://schemas.microsoft.com/office/drawing/2014/main" id="{E8C57218-F80F-44ED-8D34-4F6E2A7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融合卷积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329CC-AE60-4199-98B4-A8ACF79A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9087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A6D7FE-EC5E-4F6F-B61A-1CDDFB94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4688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7637F-EEB6-46AF-BEC0-0E043721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87C136-8426-46D3-9568-385972DE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62313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EDF1B9-FC55-447A-8E19-DDF163F9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86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5240">
            <a:solidFill>
              <a:srgbClr val="299F97"/>
            </a:solidFill>
          </a:ln>
        </p:spPr>
      </p:sp>
      <p:sp>
        <p:nvSpPr>
          <p:cNvPr id="38" name="text-130">
            <a:extLst xmlns:a="http://schemas.openxmlformats.org/drawingml/2006/main">
              <a:ext uri="{FF2B5EF4-FFF2-40B4-BE49-F238E27FC236}">
                <a16:creationId xmlns:a16="http://schemas.microsoft.com/office/drawing/2014/main" id="{C508E770-5A4E-449D-BC5B-15E74C0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524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学习组合两组特征</a:t>
            </a:r>
          </a:p>
        </p:txBody>
      </p:sp>
      <p:sp>
        <p:nvSpPr>
          <p:cNvPr id="39" name="text-131">
            <a:extLst xmlns:a="http://schemas.openxmlformats.org/drawingml/2006/main">
              <a:ext uri="{FF2B5EF4-FFF2-40B4-BE49-F238E27FC236}">
                <a16:creationId xmlns:a16="http://schemas.microsoft.com/office/drawing/2014/main" id="{7A3BEAAB-E0EB-4484-A16B-EEFC00A9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示例：64 通道与 32 通道拼接成 96 通道，再由卷积映射到 32 通道。</a:t>
            </a:r>
          </a:p>
        </p:txBody>
      </p:sp>
    </p:spTree>
    <p:extLst>
      <p:ext uri="{BB962C8B-B14F-4D97-AF65-F5344CB8AC3E}">
        <p14:creationId xmlns:p14="http://schemas.microsoft.com/office/powerpoint/2010/main" val="14934357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06200-5B7C-43C3-843D-582D27A28A88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8143875" y="4048125"/>
            <a:ext cx="1762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4604E-AA18-40D9-A270-AEC2F626BF0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143875" y="3114675"/>
            <a:ext cx="1762125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99F97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860D8-E93B-42F3-BEBA-D7F736B31496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4572000" y="2767013"/>
            <a:ext cx="952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27EFE-8BE7-4F05-A218-37D31DA89FE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181100" y="2767013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E4298-066A-4428-99C9-644C5FFF66E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 flipV="1">
            <a:off x="1171575" y="2767013"/>
            <a:ext cx="95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16A4D-4277-4E39-AEAD-24323482719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48225" y="366236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21879-333B-4F8E-AC88-C5711226620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3662363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3320E-A430-40B7-871D-0ED27D64BCF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62125" y="36623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B63"/>
            </a:solidFill>
            <a:tailEnd type="triangle" w="med" len="med"/>
          </a:ln>
        </p:spPr>
      </p:cxnSp>
      <p:sp>
        <p:nvSpPr>
          <p:cNvPr id="31" name="text-132">
            <a:extLst xmlns:a="http://schemas.openxmlformats.org/drawingml/2006/main">
              <a:ext uri="{FF2B5EF4-FFF2-40B4-BE49-F238E27FC236}">
                <a16:creationId xmlns:a16="http://schemas.microsoft.com/office/drawing/2014/main" id="{A0B8DE64-0B6E-438B-BC5D-81FC55D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U-Net 拼接与 ResNet 相加</a:t>
            </a:r>
          </a:p>
        </p:txBody>
      </p:sp>
      <p:sp>
        <p:nvSpPr>
          <p:cNvPr id="2" name="text-133">
            <a:extLst xmlns:a="http://schemas.openxmlformats.org/drawingml/2006/main">
              <a:ext uri="{FF2B5EF4-FFF2-40B4-BE49-F238E27FC236}">
                <a16:creationId xmlns:a16="http://schemas.microsoft.com/office/drawing/2014/main" id="{9A8123B9-253A-4ADF-A7B1-65762D0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小型 U-Net</a:t>
            </a:r>
          </a:p>
        </p:txBody>
      </p:sp>
      <p:sp>
        <p:nvSpPr>
          <p:cNvPr id="3" name="text-134">
            <a:extLst xmlns:a="http://schemas.openxmlformats.org/drawingml/2006/main">
              <a:ext uri="{FF2B5EF4-FFF2-40B4-BE49-F238E27FC236}">
                <a16:creationId xmlns:a16="http://schemas.microsoft.com/office/drawing/2014/main" id="{D3FEF23B-E918-4C39-8655-615D161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4" name="text-135">
            <a:extLst xmlns:a="http://schemas.openxmlformats.org/drawingml/2006/main">
              <a:ext uri="{FF2B5EF4-FFF2-40B4-BE49-F238E27FC236}">
                <a16:creationId xmlns:a16="http://schemas.microsoft.com/office/drawing/2014/main" id="{93449328-9BF5-4D6D-A26F-92F2F155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ResNet（Residual Network，残差网络）</a:t>
            </a:r>
          </a:p>
        </p:txBody>
      </p:sp>
      <p:sp>
        <p:nvSpPr>
          <p:cNvPr id="5" name="text-136">
            <a:extLst xmlns:a="http://schemas.openxmlformats.org/drawingml/2006/main">
              <a:ext uri="{FF2B5EF4-FFF2-40B4-BE49-F238E27FC236}">
                <a16:creationId xmlns:a16="http://schemas.microsoft.com/office/drawing/2014/main" id="{873D34EE-65DA-4AEA-8F39-9138A2D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残差相加：学习对输入的修正</a:t>
            </a:r>
          </a:p>
        </p:txBody>
      </p:sp>
      <p:sp>
        <p:nvSpPr>
          <p:cNvPr id="6" name="text-137">
            <a:extLst xmlns:a="http://schemas.openxmlformats.org/drawingml/2006/main">
              <a:ext uri="{FF2B5EF4-FFF2-40B4-BE49-F238E27FC236}">
                <a16:creationId xmlns:a16="http://schemas.microsoft.com/office/drawing/2014/main" id="{56373A51-4E73-4F8E-B561-775213E0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U-Net 拼接：融合不同层的特征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C8F90-7B64-4691-BEA4-44C780EA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114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C4800-80AB-4BBD-96A0-E913565B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1285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变换 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1C40B-E367-4228-9A4B-AD48F16F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62325"/>
            <a:ext cx="571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51B5D-C644-4E72-AD8C-7A6B1FDE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857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FAE80-D115-4472-97F5-68F5B99D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272EC-1616-451D-A49A-9DBF9FF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3AFC8-D582-463E-87D9-14D1A57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A72F7-66C3-4A1E-AC12-16D76A52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F349F-4BBB-4B7C-8716-9AC836F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9DCD3-1384-4F6B-B6F5-732F280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8C545-42A4-4C91-98C6-80E00F02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299F97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深层特征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EE787-2988-42EC-81A2-41C0CD27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299F97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浅层特征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24814A-D8D0-4813-83EA-5A12C12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299F97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通道拼接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0011C-729D-40ED-AEB2-6D2136E1F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bb16776d74932"/>
          <a:stretch xmlns:a="http://schemas.openxmlformats.org/drawingml/2006/main"/>
        </p:blipFill>
        <p:spPr>
          <a:xfrm xmlns:a="http://schemas.openxmlformats.org/drawingml/2006/main">
            <a:off x="1890412" y="4610100"/>
            <a:ext cx="2886676" cy="552450"/>
          </a:xfrm>
          <a:prstGeom xmlns:a="http://schemas.openxmlformats.org/drawingml/2006/main" prst="rect">
            <a:avLst/>
          </a:prstGeom>
        </p:spPr>
      </p:pic>
      <p:sp>
        <p:nvSpPr>
          <p:cNvPr id="29" name="text-138">
            <a:extLst xmlns:a="http://schemas.openxmlformats.org/drawingml/2006/main">
              <a:ext uri="{FF2B5EF4-FFF2-40B4-BE49-F238E27FC236}">
                <a16:creationId xmlns:a16="http://schemas.microsoft.com/office/drawing/2014/main" id="{143871A9-0092-4164-A9E2-484C522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538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对应元素相加，形状需匹配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通道数不变，传递恒等路径</a:t>
            </a:r>
          </a:p>
        </p:txBody>
      </p:sp>
      <p:sp>
        <p:nvSpPr>
          <p:cNvPr id="30" name="text-139">
            <a:extLst xmlns:a="http://schemas.openxmlformats.org/drawingml/2006/main">
              <a:ext uri="{FF2B5EF4-FFF2-40B4-BE49-F238E27FC236}">
                <a16:creationId xmlns:a16="http://schemas.microsoft.com/office/drawing/2014/main" id="{14C2A363-04B3-4E96-A73A-2C995DDB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509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高、宽对齐，沿通道保留两组特征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再由卷积学习融合，补充定位细节</a:t>
            </a:r>
          </a:p>
        </p:txBody>
      </p:sp>
    </p:spTree>
    <p:extLst>
      <p:ext uri="{BB962C8B-B14F-4D97-AF65-F5344CB8AC3E}">
        <p14:creationId xmlns:p14="http://schemas.microsoft.com/office/powerpoint/2010/main" val="11683228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40">
            <a:extLst xmlns:a="http://schemas.openxmlformats.org/drawingml/2006/main">
              <a:ext uri="{FF2B5EF4-FFF2-40B4-BE49-F238E27FC236}">
                <a16:creationId xmlns:a16="http://schemas.microsoft.com/office/drawing/2014/main" id="{835A0A5F-FB06-4F27-8B44-2F7D9208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BN 与 LN：稳定特征尺度，帮助训练</a:t>
            </a:r>
          </a:p>
        </p:txBody>
      </p:sp>
      <p:sp>
        <p:nvSpPr>
          <p:cNvPr id="2" name="text-141">
            <a:extLst xmlns:a="http://schemas.openxmlformats.org/drawingml/2006/main">
              <a:ext uri="{FF2B5EF4-FFF2-40B4-BE49-F238E27FC236}">
                <a16:creationId xmlns:a16="http://schemas.microsoft.com/office/drawing/2014/main" id="{8F417D64-9041-4E7F-8296-9DB0CB8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模型改进</a:t>
            </a:r>
          </a:p>
        </p:txBody>
      </p:sp>
      <p:sp>
        <p:nvSpPr>
          <p:cNvPr id="3" name="text-142">
            <a:extLst xmlns:a="http://schemas.openxmlformats.org/drawingml/2006/main">
              <a:ext uri="{FF2B5EF4-FFF2-40B4-BE49-F238E27FC236}">
                <a16:creationId xmlns:a16="http://schemas.microsoft.com/office/drawing/2014/main" id="{3ED935D7-BA66-443B-88C0-215ABBA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4" name="text-143">
            <a:extLst xmlns:a="http://schemas.openxmlformats.org/drawingml/2006/main">
              <a:ext uri="{FF2B5EF4-FFF2-40B4-BE49-F238E27FC236}">
                <a16:creationId xmlns:a16="http://schemas.microsoft.com/office/drawing/2014/main" id="{C2E67EAB-B568-4BB6-A0E6-96BA067D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06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BN（Batch Normalization）</a:t>
            </a:r>
          </a:p>
        </p:txBody>
      </p:sp>
      <p:sp>
        <p:nvSpPr>
          <p:cNvPr id="5" name="text-144">
            <a:extLst xmlns:a="http://schemas.openxmlformats.org/drawingml/2006/main">
              <a:ext uri="{FF2B5EF4-FFF2-40B4-BE49-F238E27FC236}">
                <a16:creationId xmlns:a16="http://schemas.microsoft.com/office/drawing/2014/main" id="{F60FAC4B-57E3-4A43-BE6F-A29871DB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批量归一化</a:t>
            </a:r>
          </a:p>
        </p:txBody>
      </p:sp>
      <p:sp>
        <p:nvSpPr>
          <p:cNvPr id="6" name="text-145">
            <a:extLst xmlns:a="http://schemas.openxmlformats.org/drawingml/2006/main">
              <a:ext uri="{FF2B5EF4-FFF2-40B4-BE49-F238E27FC236}">
                <a16:creationId xmlns:a16="http://schemas.microsoft.com/office/drawing/2014/main" id="{CF1FF6BC-2ABE-40C5-94A5-386678AD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90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LN（Layer Normalization）</a:t>
            </a:r>
          </a:p>
        </p:txBody>
      </p:sp>
      <p:sp>
        <p:nvSpPr>
          <p:cNvPr id="7" name="text-146">
            <a:extLst xmlns:a="http://schemas.openxmlformats.org/drawingml/2006/main">
              <a:ext uri="{FF2B5EF4-FFF2-40B4-BE49-F238E27FC236}">
                <a16:creationId xmlns:a16="http://schemas.microsoft.com/office/drawing/2014/main" id="{B8B7D09F-4078-4DA4-AD40-D2C793E9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954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层归一化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758D2-BC64-4170-87E4-5BAA660A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173B63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同一通道，跨样本与空间位置统计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6C87A-2776-4DC3-9D89-717F423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43175"/>
            <a:ext cx="504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299F97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同一样本，在指定特征维度统计</a:t>
            </a:r>
          </a:p>
        </p:txBody>
      </p:sp>
      <p:sp>
        <p:nvSpPr>
          <p:cNvPr id="10" name="text-147">
            <a:extLst xmlns:a="http://schemas.openxmlformats.org/drawingml/2006/main">
              <a:ext uri="{FF2B5EF4-FFF2-40B4-BE49-F238E27FC236}">
                <a16:creationId xmlns:a16="http://schemas.microsoft.com/office/drawing/2014/main" id="{C9DC983D-C4F3-4B41-8807-908E7F4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5286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作用：控制特征尺度，改善优化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批量统计的噪声可能带来正则化效果</a:t>
            </a:r>
          </a:p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A7B2BCF0-E88A-4767-B811-9E7B7B8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81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作用：稳定每个样本的特征尺度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不依赖同批次的其他样本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B6722B92-E921-4853-89CF-B25FD4E6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5286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注意：小批量统计可能不稳定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训练、评估使用统计量的方式不同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43F51D78-A0FE-4770-8425-6546E0F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10125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注意：先明确归一化哪些维度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不能把 LN 当成 BN 的直接替换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0FADD64D-6AD3-4BE4-88CF-40147EC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归一化后仍有可学习的缩放与平移；是否提升泛化，要用验证集对照。</a:t>
            </a:r>
          </a:p>
        </p:txBody>
      </p:sp>
    </p:spTree>
    <p:extLst>
      <p:ext uri="{BB962C8B-B14F-4D97-AF65-F5344CB8AC3E}">
        <p14:creationId xmlns:p14="http://schemas.microsoft.com/office/powerpoint/2010/main" val="8385526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4A7CE-13C1-4F29-977A-76DA9EC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学生需要补全的三份代码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6771B-6AE0-4205-816D-A606EC1C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F11D0-531E-49C2-8BEE-01CAB2CA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20E5C-23D9-49BE-B5CB-0CEB4C5493B0}"/>
              </a:ext>
            </a:extLst>
          </p:cNvPr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095625"/>
                <a:gridCol w="4476750"/>
              </a:tblGrid>
              <a:tr h="690563"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学生完成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检查命令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690563"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operator_exercises.py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卷积、激活、池化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checks.py operators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student_encoder.py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三阶段编码器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及一个改进版本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checks.py encoder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student_decoder.py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上采样、卷积与输出头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ctr"/>
                      <a:r>
                        <a:rPr sz="1875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checks.py decoder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33CC9-2AF8-4501-82FC-F71E050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已提供：数据处理、网络连接、训练循环、损失与评估。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61990-97F2-4F8E-ABC2-3BDF7F4F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625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完整网络：分别运行 python checks.py basic 和 python checks.py improved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8CDBB-D32F-4FE8-BDEF-B2AD1A1E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进阶选做：自行实现小型 U-Net。解码器形状与 Hint 见讲义第6节。</a:t>
            </a:r>
          </a:p>
        </p:txBody>
      </p:sp>
    </p:spTree>
    <p:extLst>
      <p:ext uri="{BB962C8B-B14F-4D97-AF65-F5344CB8AC3E}">
        <p14:creationId xmlns:p14="http://schemas.microsoft.com/office/powerpoint/2010/main" val="17986191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8ABC7-F0DC-45D7-9899-26C8596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本地与107平台两条运行路径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B75E4-EE8D-4FD9-9C84-82026ED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FBA86-6F14-46CE-9E45-35807360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ED116-9A1F-42A9-A01D-F9921161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本地有NVIDIA显卡：本地入口（讲义8.1）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D20BE-9C07-4722-83B6-70882EAB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python run_local.py basic</a:t>
            </a:r>
          </a:p>
          <a:p xmlns:a="http://schemas.openxmlformats.org/drawingml/2006/main">
            <a: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python run_local.py improved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F3103-0790-4A14-B256-C66E379F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本地没有NVIDIA显卡：107平台Slurm（讲义8.2）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87B3A-82B5-4BE7-A600-25164A96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bash scripts/submit.sh basic</a:t>
            </a:r>
          </a:p>
          <a:p xmlns:a="http://schemas.openxmlformats.org/drawingml/2006/main">
            <a:pPr algn="l">
              <a:def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bash scripts/submit.sh improved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55B83-4470-4FBF-8C80-71862BA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两条路径共用代码与评分标准。选定模型后，按对应入口评估并提交日志。</a:t>
            </a:r>
          </a:p>
        </p:txBody>
      </p:sp>
    </p:spTree>
    <p:extLst>
      <p:ext uri="{BB962C8B-B14F-4D97-AF65-F5344CB8AC3E}">
        <p14:creationId xmlns:p14="http://schemas.microsoft.com/office/powerpoint/2010/main" val="16700570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E2F53ABA-B042-49E1-9933-AD5CCEC8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至少完成一组受控对比</a:t>
            </a:r>
          </a:p>
        </p:txBody>
      </p:sp>
      <p:sp>
        <p:nvSpPr>
          <p:cNvPr id="2" name="text-189">
            <a:extLst xmlns:a="http://schemas.openxmlformats.org/drawingml/2006/main">
              <a:ext uri="{FF2B5EF4-FFF2-40B4-BE49-F238E27FC236}">
                <a16:creationId xmlns:a16="http://schemas.microsoft.com/office/drawing/2014/main" id="{6138849C-5AC0-434E-AD29-349C5D3C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实验安排</a:t>
            </a:r>
          </a:p>
        </p:txBody>
      </p:sp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F7020023-C001-480E-A95D-DB624286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A79B1-172A-4ABE-9986-0947BE1053F6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53750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91000"/>
                <a:gridCol w="4191000"/>
              </a:tblGrid>
              <a:tr h="6334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保持一致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6334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三阶段编码器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划分、分辨率、训练预算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改进模型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例如只加入 BN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同一解码器与评估口径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进阶 U-Net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加入跳跃连接与融合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相同数据与训练设置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191">
            <a:extLst xmlns:a="http://schemas.openxmlformats.org/drawingml/2006/main">
              <a:ext uri="{FF2B5EF4-FFF2-40B4-BE49-F238E27FC236}">
                <a16:creationId xmlns:a16="http://schemas.microsoft.com/office/drawing/2014/main" id="{516104EA-DE3D-46C7-902F-B6EC9790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报告记录</a:t>
            </a:r>
          </a:p>
        </p:txBody>
      </p:sp>
      <p:sp>
        <p:nvSpPr>
          <p:cNvPr id="6" name="text-192">
            <a:extLst xmlns:a="http://schemas.openxmlformats.org/drawingml/2006/main">
              <a:ext uri="{FF2B5EF4-FFF2-40B4-BE49-F238E27FC236}">
                <a16:creationId xmlns:a16="http://schemas.microsoft.com/office/drawing/2014/main" id="{4EF9BD9E-1D10-44C1-A5CC-48936E8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验证 IoU、损失曲线、参数量与训练耗时。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至少分析 3 个相对成功案例和 3 个失败案例。</a:t>
            </a:r>
          </a:p>
        </p:txBody>
      </p:sp>
    </p:spTree>
    <p:extLst>
      <p:ext uri="{BB962C8B-B14F-4D97-AF65-F5344CB8AC3E}">
        <p14:creationId xmlns:p14="http://schemas.microsoft.com/office/powerpoint/2010/main" val="19180664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52">
            <a:extLst xmlns:a="http://schemas.openxmlformats.org/drawingml/2006/main">
              <a:ext uri="{FF2B5EF4-FFF2-40B4-BE49-F238E27FC236}">
                <a16:creationId xmlns:a16="http://schemas.microsoft.com/office/drawing/2014/main" id="{35FB7FD6-DC1F-4A9D-8A3F-7858204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评分与提交内容</a:t>
            </a:r>
          </a:p>
        </p:txBody>
      </p:sp>
      <p:sp>
        <p:nvSpPr>
          <p:cNvPr id="2" name="text-153">
            <a:extLst xmlns:a="http://schemas.openxmlformats.org/drawingml/2006/main">
              <a:ext uri="{FF2B5EF4-FFF2-40B4-BE49-F238E27FC236}">
                <a16:creationId xmlns:a16="http://schemas.microsoft.com/office/drawing/2014/main" id="{38F5D810-9A42-474A-857E-7B53D480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实验安排</a:t>
            </a:r>
          </a:p>
        </p:txBody>
      </p:sp>
      <p:sp>
        <p:nvSpPr>
          <p:cNvPr id="3" name="text-154">
            <a:extLst xmlns:a="http://schemas.openxmlformats.org/drawingml/2006/main">
              <a:ext uri="{FF2B5EF4-FFF2-40B4-BE49-F238E27FC236}">
                <a16:creationId xmlns:a16="http://schemas.microsoft.com/office/drawing/2014/main" id="{2E2CB993-01A3-41F7-AD92-628DEC3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C3234-1825-454E-9A07-66BB9D54A782}"/>
              </a:ext>
            </a:extLst>
          </p:cNvPr>
          <p:cNvGraphicFramePr/>
          <p:nvPr/>
        </p:nvGraphicFramePr>
        <p:xfrm>
          <a:off xmlns:a="http://schemas.openxmlformats.org/drawingml/2006/main" x="619125" y="1400175"/>
          <a:ext xmlns:a="http://schemas.openxmlformats.org/drawingml/2006/main" cx="55245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1238250"/>
              </a:tblGrid>
              <a:tr h="6588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评分项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6588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基础运算与尺寸解释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编解码器实现与连接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训练与复现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对比与错误分析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最终分割效果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>
                        <a:buNone/>
                      </a:pPr>
                      <a:r>
                        <a:rPr sz="210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155">
            <a:extLst xmlns:a="http://schemas.openxmlformats.org/drawingml/2006/main">
              <a:ext uri="{FF2B5EF4-FFF2-40B4-BE49-F238E27FC236}">
                <a16:creationId xmlns:a16="http://schemas.microsoft.com/office/drawing/2014/main" id="{669B50DA-BB3C-4CE6-94FB-BB5C6FD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效果分（10 分）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测试集平均前景 IoU 乘以 10</a:t>
            </a:r>
          </a:p>
        </p:txBody>
      </p:sp>
      <p:sp>
        <p:nvSpPr>
          <p:cNvPr id="6" name="text-156">
            <a:extLst xmlns:a="http://schemas.openxmlformats.org/drawingml/2006/main">
              <a:ext uri="{FF2B5EF4-FFF2-40B4-BE49-F238E27FC236}">
                <a16:creationId xmlns:a16="http://schemas.microsoft.com/office/drawing/2014/main" id="{CC8B8681-7368-4923-A190-CB6A1E5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进阶最多加 20 分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总分封顶 100 分</a:t>
            </a:r>
          </a:p>
        </p:txBody>
      </p:sp>
      <p:sp>
        <p:nvSpPr>
          <p:cNvPr id="7" name="text-157">
            <a:extLst xmlns:a="http://schemas.openxmlformats.org/drawingml/2006/main">
              <a:ext uri="{FF2B5EF4-FFF2-40B4-BE49-F238E27FC236}">
                <a16:creationId xmlns:a16="http://schemas.microsoft.com/office/drawing/2014/main" id="{953B8463-4780-40FF-BE77-D198F51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连接与维度 8 · 有效对照 8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与残差思想的理论比较 4</a:t>
            </a:r>
          </a:p>
        </p:txBody>
      </p:sp>
      <p:sp>
        <p:nvSpPr>
          <p:cNvPr id="8" name="text-158">
            <a:extLst xmlns:a="http://schemas.openxmlformats.org/drawingml/2006/main">
              <a:ext uri="{FF2B5EF4-FFF2-40B4-BE49-F238E27FC236}">
                <a16:creationId xmlns:a16="http://schemas.microsoft.com/office/drawing/2014/main" id="{FB9C77D5-0D72-4E25-8C9F-43D429F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提交代码、报告、最佳权重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训练记录、代码快照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测试指标与运行日志</a:t>
            </a:r>
          </a:p>
        </p:txBody>
      </p:sp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FED9BECE-834D-4577-9668-029C403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完整数据集、环境与缓存不打包。</a:t>
            </a:r>
          </a:p>
        </p:txBody>
      </p:sp>
    </p:spTree>
    <p:extLst>
      <p:ext uri="{BB962C8B-B14F-4D97-AF65-F5344CB8AC3E}">
        <p14:creationId xmlns:p14="http://schemas.microsoft.com/office/powerpoint/2010/main" val="4715132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0">
            <a:extLst xmlns:a="http://schemas.openxmlformats.org/drawingml/2006/main">
              <a:ext uri="{FF2B5EF4-FFF2-40B4-BE49-F238E27FC236}">
                <a16:creationId xmlns:a16="http://schemas.microsoft.com/office/drawing/2014/main" id="{E2BFD688-01A4-42BA-96AB-C5D97462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开始实验前的四个检查问题</a:t>
            </a:r>
          </a:p>
        </p:txBody>
      </p:sp>
      <p:sp>
        <p:nvSpPr>
          <p:cNvPr id="2" name="text-201">
            <a:extLst xmlns:a="http://schemas.openxmlformats.org/drawingml/2006/main">
              <a:ext uri="{FF2B5EF4-FFF2-40B4-BE49-F238E27FC236}">
                <a16:creationId xmlns:a16="http://schemas.microsoft.com/office/drawing/2014/main" id="{8A9F1807-DAFF-4260-A6EA-6D6FFC1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课堂检查</a:t>
            </a:r>
          </a:p>
        </p:txBody>
      </p:sp>
      <p:sp>
        <p:nvSpPr>
          <p:cNvPr id="3" name="text-202">
            <a:extLst xmlns:a="http://schemas.openxmlformats.org/drawingml/2006/main">
              <a:ext uri="{FF2B5EF4-FFF2-40B4-BE49-F238E27FC236}">
                <a16:creationId xmlns:a16="http://schemas.microsoft.com/office/drawing/2014/main" id="{9487D9D5-D373-4820-BFCF-97CD275B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4" name="text-203">
            <a:extLst xmlns:a="http://schemas.openxmlformats.org/drawingml/2006/main">
              <a:ext uri="{FF2B5EF4-FFF2-40B4-BE49-F238E27FC236}">
                <a16:creationId xmlns:a16="http://schemas.microsoft.com/office/drawing/2014/main" id="{6F35F2C4-55E6-48CA-BD14-1184118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text-204">
            <a:extLst xmlns:a="http://schemas.openxmlformats.org/drawingml/2006/main">
              <a:ext uri="{FF2B5EF4-FFF2-40B4-BE49-F238E27FC236}">
                <a16:creationId xmlns:a16="http://schemas.microsoft.com/office/drawing/2014/main" id="{7C3B1083-EC8A-4754-A609-879C983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53352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卷积怎样改变通道数？池化会改变通道数吗？</a:t>
            </a:r>
          </a:p>
        </p:txBody>
      </p:sp>
      <p:sp>
        <p:nvSpPr>
          <p:cNvPr id="6" name="text-205">
            <a:extLst xmlns:a="http://schemas.openxmlformats.org/drawingml/2006/main">
              <a:ext uri="{FF2B5EF4-FFF2-40B4-BE49-F238E27FC236}">
                <a16:creationId xmlns:a16="http://schemas.microsoft.com/office/drawing/2014/main" id="{365E9F2D-5A41-4B8F-84F0-2CF4A8B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text-206">
            <a:extLst xmlns:a="http://schemas.openxmlformats.org/drawingml/2006/main">
              <a:ext uri="{FF2B5EF4-FFF2-40B4-BE49-F238E27FC236}">
                <a16:creationId xmlns:a16="http://schemas.microsoft.com/office/drawing/2014/main" id="{368C630E-9379-46D9-9DA7-BD58EA3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6289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上采样回到原图大小，是否意味着细节全部恢复？</a:t>
            </a:r>
          </a:p>
        </p:txBody>
      </p:sp>
      <p:sp>
        <p:nvSpPr>
          <p:cNvPr id="8" name="text-207">
            <a:extLst xmlns:a="http://schemas.openxmlformats.org/drawingml/2006/main">
              <a:ext uri="{FF2B5EF4-FFF2-40B4-BE49-F238E27FC236}">
                <a16:creationId xmlns:a16="http://schemas.microsoft.com/office/drawing/2014/main" id="{2AEE4320-C4B6-4FED-9458-39C017D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text-208">
            <a:extLst xmlns:a="http://schemas.openxmlformats.org/drawingml/2006/main">
              <a:ext uri="{FF2B5EF4-FFF2-40B4-BE49-F238E27FC236}">
                <a16:creationId xmlns:a16="http://schemas.microsoft.com/office/drawing/2014/main" id="{C10A03CE-F101-4686-94AE-3DDEF13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7242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64 通道与 32 通道拼接后，融合卷积接收多少通道？</a:t>
            </a:r>
          </a:p>
        </p:txBody>
      </p:sp>
      <p:sp>
        <p:nvSpPr>
          <p:cNvPr id="10" name="text-209">
            <a:extLst xmlns:a="http://schemas.openxmlformats.org/drawingml/2006/main">
              <a:ext uri="{FF2B5EF4-FFF2-40B4-BE49-F238E27FC236}">
                <a16:creationId xmlns:a16="http://schemas.microsoft.com/office/drawing/2014/main" id="{2B8EAC5D-ADD5-4AE6-83FF-58DBD448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1" name="text-210">
            <a:extLst xmlns:a="http://schemas.openxmlformats.org/drawingml/2006/main">
              <a:ext uri="{FF2B5EF4-FFF2-40B4-BE49-F238E27FC236}">
                <a16:creationId xmlns:a16="http://schemas.microsoft.com/office/drawing/2014/main" id="{F6959792-2445-43B0-96EB-50E65BB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196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为什么分割效果主要看前景 IoU，而不是像素准确率？</a:t>
            </a:r>
          </a:p>
        </p:txBody>
      </p:sp>
    </p:spTree>
    <p:extLst>
      <p:ext uri="{BB962C8B-B14F-4D97-AF65-F5344CB8AC3E}">
        <p14:creationId xmlns:p14="http://schemas.microsoft.com/office/powerpoint/2010/main" val="4714283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11">
            <a:extLst xmlns:a="http://schemas.openxmlformats.org/drawingml/2006/main">
              <a:ext uri="{FF2B5EF4-FFF2-40B4-BE49-F238E27FC236}">
                <a16:creationId xmlns:a16="http://schemas.microsoft.com/office/drawing/2014/main" id="{2D933387-D371-4A36-A9F0-90C3046F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参考资料与图片来源</a:t>
            </a:r>
          </a:p>
        </p:txBody>
      </p:sp>
      <p:sp>
        <p:nvSpPr>
          <p:cNvPr id="2" name="text-212">
            <a:extLst xmlns:a="http://schemas.openxmlformats.org/drawingml/2006/main">
              <a:ext uri="{FF2B5EF4-FFF2-40B4-BE49-F238E27FC236}">
                <a16:creationId xmlns:a16="http://schemas.microsoft.com/office/drawing/2014/main" id="{F9E50CF6-66CA-493E-A95D-E61B20B4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参考资料</a:t>
            </a:r>
          </a:p>
        </p:txBody>
      </p:sp>
      <p:sp>
        <p:nvSpPr>
          <p:cNvPr id="3" name="text-213">
            <a:extLst xmlns:a="http://schemas.openxmlformats.org/drawingml/2006/main">
              <a:ext uri="{FF2B5EF4-FFF2-40B4-BE49-F238E27FC236}">
                <a16:creationId xmlns:a16="http://schemas.microsoft.com/office/drawing/2014/main" id="{8B5CCCB7-166F-48C7-92EA-10110AB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4" name="text-214">
            <a:extLst xmlns:a="http://schemas.openxmlformats.org/drawingml/2006/main">
              <a:ext uri="{FF2B5EF4-FFF2-40B4-BE49-F238E27FC236}">
                <a16:creationId xmlns:a16="http://schemas.microsoft.com/office/drawing/2014/main" id="{CE302AA6-E732-456F-BB0D-8D19C6D5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06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课程理论</a:t>
            </a:r>
          </a:p>
        </p:txBody>
      </p:sp>
      <p:sp>
        <p:nvSpPr>
          <p:cNvPr id="5" name="text-215">
            <a:extLst xmlns:a="http://schemas.openxmlformats.org/drawingml/2006/main">
              <a:ext uri="{FF2B5EF4-FFF2-40B4-BE49-F238E27FC236}">
                <a16:creationId xmlns:a16="http://schemas.microsoft.com/office/drawing/2014/main" id="{D4D95692-6E3F-4380-A0D6-114FE26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906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邱锡鹏《神经网络与深度学习》第5章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实验05讲义与配套 PyTorch 代码</a:t>
            </a:r>
          </a:p>
        </p:txBody>
      </p:sp>
      <p:sp>
        <p:nvSpPr>
          <p:cNvPr id="6" name="text-216">
            <a:extLst xmlns:a="http://schemas.openxmlformats.org/drawingml/2006/main">
              <a:ext uri="{FF2B5EF4-FFF2-40B4-BE49-F238E27FC236}">
                <a16:creationId xmlns:a16="http://schemas.microsoft.com/office/drawing/2014/main" id="{86B10165-2A2F-49C8-A1F4-BACB112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宠物照片与标注</a:t>
            </a:r>
          </a:p>
        </p:txBody>
      </p:sp>
      <p:sp>
        <p:nvSpPr>
          <p:cNvPr id="7" name="text-217">
            <a:extLst xmlns:a="http://schemas.openxmlformats.org/drawingml/2006/main">
              <a:ext uri="{FF2B5EF4-FFF2-40B4-BE49-F238E27FC236}">
                <a16:creationId xmlns:a16="http://schemas.microsoft.com/office/drawing/2014/main" id="{8F957104-0B85-4FE5-A61E-EF37C812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Parkhi 等，Oxford-IIIT Pet / Cats and Dogs (2012)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robots.ox.ac.uk/~vgg/data/pets/</a:t>
            </a:r>
          </a:p>
        </p:txBody>
      </p:sp>
      <p:sp>
        <p:nvSpPr>
          <p:cNvPr id="8" name="text-218">
            <a:extLst xmlns:a="http://schemas.openxmlformats.org/drawingml/2006/main">
              <a:ext uri="{FF2B5EF4-FFF2-40B4-BE49-F238E27FC236}">
                <a16:creationId xmlns:a16="http://schemas.microsoft.com/office/drawing/2014/main" id="{1A3CD73C-8EED-47BE-9FE5-B1390C31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网络结构</a:t>
            </a:r>
          </a:p>
        </p:txBody>
      </p:sp>
      <p:sp>
        <p:nvSpPr>
          <p:cNvPr id="9" name="text-219">
            <a:extLst xmlns:a="http://schemas.openxmlformats.org/drawingml/2006/main">
              <a:ext uri="{FF2B5EF4-FFF2-40B4-BE49-F238E27FC236}">
                <a16:creationId xmlns:a16="http://schemas.microsoft.com/office/drawing/2014/main" id="{7D04EAC0-D1F5-4B85-995C-3DB6C924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Ronneberger 等，U-Net (2015)，原论文 Figure 1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He 等，Deep Residual Learning (2015)</a:t>
            </a:r>
          </a:p>
        </p:txBody>
      </p:sp>
      <p:sp>
        <p:nvSpPr>
          <p:cNvPr id="10" name="text-220">
            <a:extLst xmlns:a="http://schemas.openxmlformats.org/drawingml/2006/main">
              <a:ext uri="{FF2B5EF4-FFF2-40B4-BE49-F238E27FC236}">
                <a16:creationId xmlns:a16="http://schemas.microsoft.com/office/drawing/2014/main" id="{7B2A74B8-52AC-4333-B546-578DADFF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接口说明</a:t>
            </a:r>
          </a:p>
        </p:txBody>
      </p:sp>
      <p:sp>
        <p:nvSpPr>
          <p:cNvPr id="11" name="text-221">
            <a:extLst xmlns:a="http://schemas.openxmlformats.org/drawingml/2006/main">
              <a:ext uri="{FF2B5EF4-FFF2-40B4-BE49-F238E27FC236}">
                <a16:creationId xmlns:a16="http://schemas.microsoft.com/office/drawing/2014/main" id="{814D9716-9297-41B2-A64C-0232AF1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91075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PyTorch：Conv2d、BatchNorm2d、LayerNorm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53C"/>
                </a:solidFill>
                <a:latin typeface="Arial Unicode MS"/>
                <a:ea typeface="Arial Unicode MS"/>
                <a:cs typeface="Arial Unicode MS"/>
              </a:rPr>
              <a:t>图片出处与课堂提问见各页讲者备注</a:t>
            </a:r>
          </a:p>
        </p:txBody>
      </p:sp>
    </p:spTree>
    <p:extLst>
      <p:ext uri="{BB962C8B-B14F-4D97-AF65-F5344CB8AC3E}">
        <p14:creationId xmlns:p14="http://schemas.microsoft.com/office/powerpoint/2010/main" val="1051606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sults-text-1">
            <a:extLst xmlns:a="http://schemas.openxmlformats.org/drawingml/2006/main">
              <a:ext uri="{FF2B5EF4-FFF2-40B4-BE49-F238E27FC236}">
                <a16:creationId xmlns:a16="http://schemas.microsoft.com/office/drawing/2014/main" id="{D7E013E3-9685-4B0F-B578-72ED988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基础实现有局限，任务本身有提升空间</a:t>
            </a:r>
          </a:p>
        </p:txBody>
      </p:sp>
      <p:sp>
        <p:nvSpPr>
          <p:cNvPr id="2" name="results-text-2">
            <a:extLst xmlns:a="http://schemas.openxmlformats.org/drawingml/2006/main">
              <a:ext uri="{FF2B5EF4-FFF2-40B4-BE49-F238E27FC236}">
                <a16:creationId xmlns:a16="http://schemas.microsoft.com/office/drawing/2014/main" id="{F157D880-21A7-4C0F-9E24-07D5D346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3">
            <a:extLst xmlns:a="http://schemas.openxmlformats.org/drawingml/2006/main">
              <a:ext uri="{FF2B5EF4-FFF2-40B4-BE49-F238E27FC236}">
                <a16:creationId xmlns:a16="http://schemas.microsoft.com/office/drawing/2014/main" id="{191055E7-AA56-4AEC-8236-EE8173D7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" name="results-text-4">
            <a:extLst xmlns:a="http://schemas.openxmlformats.org/drawingml/2006/main">
              <a:ext uri="{FF2B5EF4-FFF2-40B4-BE49-F238E27FC236}">
                <a16:creationId xmlns:a16="http://schemas.microsoft.com/office/drawing/2014/main" id="{C374E4AE-1D5D-41C3-B076-640E47EE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同一测试集：3,669 张图片；按每张图片的前景指标取平均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4B888-908D-4E13-83C2-63CC7B52C905}"/>
              </a:ext>
            </a:extLst>
          </p:cNvPr>
          <p:cNvGraphicFramePr/>
          <p:nvPr/>
        </p:nvGraphicFramePr>
        <p:xfrm>
          <a:off xmlns:a="http://schemas.openxmlformats.org/drawingml/2006/main" x="619125" y="2009775"/>
          <a:ext xmlns:a="http://schemas.openxmlformats.org/drawingml/2006/main" cx="109537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667000"/>
                <a:gridCol w="2667000"/>
              </a:tblGrid>
              <a:tr h="60007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 IoU 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 Dice 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T w="9525">
                      <a:solidFill>
                        <a:srgbClr val="D2DBE5"/>
                      </a:solidFill>
                      <a:prstDash val="solid"/>
                    </a:lnT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173B63"/>
                    </a:solidFill>
                  </a:tcPr>
                </a:tc>
              </a:tr>
              <a:tr h="60007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3B6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手写 Encoder–Decoder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0.806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287AB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U-Net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0.811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D5963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改进方案1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0.867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0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71450" tIns="171450" rIns="171450" bIns="171450"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299F9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改进方案2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2DBE5"/>
                      </a:solidFill>
                      <a:prstDash val="solid"/>
                    </a:lnL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  <a:tc>
                  <a:txBody>
                    <a:bodyPr lIns="171450" tIns="171450" rIns="171450" bIns="171450"/>
                    <a:lstStyle/>
                    <a:p>
                      <a:pPr algn="ctr">
                        <a:buNone/>
                      </a:pPr>
                      <a:r>
                        <a:rPr sz="2250" b="1">
                          <a:solidFill>
                            <a:srgbClr val="1825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2DBE5"/>
                      </a:solidFill>
                      <a:prstDash val="solid"/>
                    </a:lnR>
                    <a:lnB w="9525">
                      <a:solidFill>
                        <a:srgbClr val="D2DBE5"/>
                      </a:solidFill>
                      <a:prstDash val="solid"/>
                    </a:lnB>
                    <a:solidFill>
                      <a:srgbClr val="E9F6F3"/>
                    </a:solidFill>
                  </a:tcPr>
                </a:tc>
              </a:tr>
            </a:tbl>
          </a:graphicData>
        </a:graphic>
      </p:graphicFrame>
      <p:sp>
        <p:nvSpPr>
          <p:cNvPr id="6" name="results-text-5">
            <a:extLst xmlns:a="http://schemas.openxmlformats.org/drawingml/2006/main">
              <a:ext uri="{FF2B5EF4-FFF2-40B4-BE49-F238E27FC236}">
                <a16:creationId xmlns:a16="http://schemas.microsoft.com/office/drawing/2014/main" id="{ABEB46A3-88DA-47B1-AC0F-E2E7109C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从约 0.70 到约 0.97：分割质量还有很大提升空间</a:t>
            </a:r>
          </a:p>
        </p:txBody>
      </p:sp>
      <p:sp>
        <p:nvSpPr>
          <p:cNvPr id="7" name="results-text-6">
            <a:extLst xmlns:a="http://schemas.openxmlformats.org/drawingml/2006/main">
              <a:ext uri="{FF2B5EF4-FFF2-40B4-BE49-F238E27FC236}">
                <a16:creationId xmlns:a16="http://schemas.microsoft.com/office/drawing/2014/main" id="{AD653036-20B7-430D-BC4C-8630CD2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统一 128 × 128 评估网格，阈值 0.5，忽略不确定边界；训练配置不同。</a:t>
            </a:r>
          </a:p>
        </p:txBody>
      </p:sp>
    </p:spTree>
    <p:extLst>
      <p:ext uri="{BB962C8B-B14F-4D97-AF65-F5344CB8AC3E}">
        <p14:creationId xmlns:p14="http://schemas.microsoft.com/office/powerpoint/2010/main" val="2309880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sults-text-7">
            <a:extLst xmlns:a="http://schemas.openxmlformats.org/drawingml/2006/main">
              <a:ext uri="{FF2B5EF4-FFF2-40B4-BE49-F238E27FC236}">
                <a16:creationId xmlns:a16="http://schemas.microsoft.com/office/drawing/2014/main" id="{0E3669C7-FA76-4BB0-90D8-1310401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训练曲线：观察分割效果如何变化</a:t>
            </a:r>
          </a:p>
        </p:txBody>
      </p:sp>
      <p:sp>
        <p:nvSpPr>
          <p:cNvPr id="2" name="results-text-8">
            <a:extLst xmlns:a="http://schemas.openxmlformats.org/drawingml/2006/main">
              <a:ext uri="{FF2B5EF4-FFF2-40B4-BE49-F238E27FC236}">
                <a16:creationId xmlns:a16="http://schemas.microsoft.com/office/drawing/2014/main" id="{76949144-EC8C-44CE-8719-8258DE6E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9">
            <a:extLst xmlns:a="http://schemas.openxmlformats.org/drawingml/2006/main">
              <a:ext uri="{FF2B5EF4-FFF2-40B4-BE49-F238E27FC236}">
                <a16:creationId xmlns:a16="http://schemas.microsoft.com/office/drawing/2014/main" id="{BCB334EA-803B-4881-8846-DBB0902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4" name="results-text-10">
            <a:extLst xmlns:a="http://schemas.openxmlformats.org/drawingml/2006/main">
              <a:ext uri="{FF2B5EF4-FFF2-40B4-BE49-F238E27FC236}">
                <a16:creationId xmlns:a16="http://schemas.microsoft.com/office/drawing/2014/main" id="{68C11EFD-79B4-4D8E-BD61-B64FF901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每轮训练结束后，在同一验证集上计算前景 IoU（越高越好）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4CE641C-D7ED-40DB-AE03-765DAC0B8A31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537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922ffa549b4032"/>
          </a:graphicData>
        </a:graphic>
      </p:graphicFrame>
      <p:sp>
        <p:nvSpPr>
          <p:cNvPr id="6" name="results-text-11">
            <a:extLst xmlns:a="http://schemas.openxmlformats.org/drawingml/2006/main">
              <a:ext uri="{FF2B5EF4-FFF2-40B4-BE49-F238E27FC236}">
                <a16:creationId xmlns:a16="http://schemas.microsoft.com/office/drawing/2014/main" id="{90863B57-F812-4915-B1D1-6A1A49C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817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曲线保留真实波动；最终模型由验证集选择，再做一次完整测试。</a:t>
            </a:r>
          </a:p>
        </p:txBody>
      </p:sp>
    </p:spTree>
    <p:extLst>
      <p:ext uri="{BB962C8B-B14F-4D97-AF65-F5344CB8AC3E}">
        <p14:creationId xmlns:p14="http://schemas.microsoft.com/office/powerpoint/2010/main" val="2223559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sults-text-12">
            <a:extLst xmlns:a="http://schemas.openxmlformats.org/drawingml/2006/main">
              <a:ext uri="{FF2B5EF4-FFF2-40B4-BE49-F238E27FC236}">
                <a16:creationId xmlns:a16="http://schemas.microsoft.com/office/drawing/2014/main" id="{99B67616-9585-4186-96D7-48818AFD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训练损失下降，并不等于分割已经足够好</a:t>
            </a:r>
          </a:p>
        </p:txBody>
      </p:sp>
      <p:sp>
        <p:nvSpPr>
          <p:cNvPr id="2" name="results-text-13">
            <a:extLst xmlns:a="http://schemas.openxmlformats.org/drawingml/2006/main">
              <a:ext uri="{FF2B5EF4-FFF2-40B4-BE49-F238E27FC236}">
                <a16:creationId xmlns:a16="http://schemas.microsoft.com/office/drawing/2014/main" id="{A444945B-E5CB-4BE9-93C4-B36376B5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14">
            <a:extLst xmlns:a="http://schemas.openxmlformats.org/drawingml/2006/main">
              <a:ext uri="{FF2B5EF4-FFF2-40B4-BE49-F238E27FC236}">
                <a16:creationId xmlns:a16="http://schemas.microsoft.com/office/drawing/2014/main" id="{E092EC3A-5DAE-4E6F-BD9F-C10DF301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4" name="results-text-15">
            <a:extLst xmlns:a="http://schemas.openxmlformats.org/drawingml/2006/main">
              <a:ext uri="{FF2B5EF4-FFF2-40B4-BE49-F238E27FC236}">
                <a16:creationId xmlns:a16="http://schemas.microsoft.com/office/drawing/2014/main" id="{4A904183-87C3-4A83-9EDC-C14CB792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同时看训练损失、验证指标和预测图片，才能判断模型学到了什么</a:t>
            </a:r>
          </a:p>
        </p:txBody>
      </p:sp>
      <p:sp>
        <p:nvSpPr>
          <p:cNvPr id="5" name="results-text-16">
            <a:extLst xmlns:a="http://schemas.openxmlformats.org/drawingml/2006/main">
              <a:ext uri="{FF2B5EF4-FFF2-40B4-BE49-F238E27FC236}">
                <a16:creationId xmlns:a16="http://schemas.microsoft.com/office/drawing/2014/main" id="{46FDDA61-DE61-408A-808F-AF231AC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手写 Encoder–Decoder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C51635E-A304-488C-B2F1-ACE307BACAD2}"/>
              </a:ext>
            </a:extLst>
          </p:cNvPr>
          <p:cNvGraphicFramePr/>
          <p:nvPr/>
        </p:nvGraphicFramePr>
        <p:xfrm>
          <a:off xmlns:a="http://schemas.openxmlformats.org/drawingml/2006/main" x="619125" y="2200275"/>
          <a:ext xmlns:a="http://schemas.openxmlformats.org/drawingml/2006/main" cx="5238750" cy="1647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4ea8266bb048b7"/>
          </a:graphicData>
        </a:graphic>
      </p:graphicFrame>
      <p:sp>
        <p:nvSpPr>
          <p:cNvPr id="7" name="results-text-17">
            <a:extLst xmlns:a="http://schemas.openxmlformats.org/drawingml/2006/main">
              <a:ext uri="{FF2B5EF4-FFF2-40B4-BE49-F238E27FC236}">
                <a16:creationId xmlns:a16="http://schemas.microsoft.com/office/drawing/2014/main" id="{28E2E30A-157A-4523-B881-07A1E8E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U-Net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AAA0728-6B9F-473C-A71C-7C320A990EBD}"/>
              </a:ext>
            </a:extLst>
          </p:cNvPr>
          <p:cNvGraphicFramePr/>
          <p:nvPr/>
        </p:nvGraphicFramePr>
        <p:xfrm>
          <a:off xmlns:a="http://schemas.openxmlformats.org/drawingml/2006/main" x="6286500" y="2200275"/>
          <a:ext xmlns:a="http://schemas.openxmlformats.org/drawingml/2006/main" cx="5238750" cy="1647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8e270a05284422"/>
          </a:graphicData>
        </a:graphic>
      </p:graphicFrame>
      <p:sp>
        <p:nvSpPr>
          <p:cNvPr id="9" name="results-text-18">
            <a:extLst xmlns:a="http://schemas.openxmlformats.org/drawingml/2006/main">
              <a:ext uri="{FF2B5EF4-FFF2-40B4-BE49-F238E27FC236}">
                <a16:creationId xmlns:a16="http://schemas.microsoft.com/office/drawing/2014/main" id="{6EF3935C-492B-4BFF-920A-026BFF1A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改进方案1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8A406157-F4F4-4399-909B-3BE1907D7AD7}"/>
              </a:ext>
            </a:extLst>
          </p:cNvPr>
          <p:cNvGraphicFramePr/>
          <p:nvPr/>
        </p:nvGraphicFramePr>
        <p:xfrm>
          <a:off xmlns:a="http://schemas.openxmlformats.org/drawingml/2006/main" x="619125" y="4295775"/>
          <a:ext xmlns:a="http://schemas.openxmlformats.org/drawingml/2006/main" cx="5238750" cy="1647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2d60cdbd7d42a4"/>
          </a:graphicData>
        </a:graphic>
      </p:graphicFrame>
      <p:sp>
        <p:nvSpPr>
          <p:cNvPr id="11" name="results-text-19">
            <a:extLst xmlns:a="http://schemas.openxmlformats.org/drawingml/2006/main">
              <a:ext uri="{FF2B5EF4-FFF2-40B4-BE49-F238E27FC236}">
                <a16:creationId xmlns:a16="http://schemas.microsoft.com/office/drawing/2014/main" id="{1A061D35-D600-4F38-B203-9D5FA686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改进方案2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51F339E5-3577-4FCF-A610-76437375C0CC}"/>
              </a:ext>
            </a:extLst>
          </p:cNvPr>
          <p:cNvGraphicFramePr/>
          <p:nvPr/>
        </p:nvGraphicFramePr>
        <p:xfrm>
          <a:off xmlns:a="http://schemas.openxmlformats.org/drawingml/2006/main" x="6286500" y="4295775"/>
          <a:ext xmlns:a="http://schemas.openxmlformats.org/drawingml/2006/main" cx="5238750" cy="1647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efc4ccd1b6402f"/>
          </a:graphicData>
        </a:graphic>
      </p:graphicFrame>
      <p:sp>
        <p:nvSpPr>
          <p:cNvPr id="13" name="results-text-20">
            <a:extLst xmlns:a="http://schemas.openxmlformats.org/drawingml/2006/main">
              <a:ext uri="{FF2B5EF4-FFF2-40B4-BE49-F238E27FC236}">
                <a16:creationId xmlns:a16="http://schemas.microsoft.com/office/drawing/2014/main" id="{DEC27352-1856-41DB-B26A-A20B0497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各子图纵轴独立；损失定义可能不同，数值不作横向排名。</a:t>
            </a:r>
          </a:p>
        </p:txBody>
      </p:sp>
    </p:spTree>
    <p:extLst>
      <p:ext uri="{BB962C8B-B14F-4D97-AF65-F5344CB8AC3E}">
        <p14:creationId xmlns:p14="http://schemas.microsoft.com/office/powerpoint/2010/main" val="4337318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sults-text-21">
            <a:extLst xmlns:a="http://schemas.openxmlformats.org/drawingml/2006/main">
              <a:ext uri="{FF2B5EF4-FFF2-40B4-BE49-F238E27FC236}">
                <a16:creationId xmlns:a16="http://schemas.microsoft.com/office/drawing/2014/main" id="{55AA517F-29C7-4F8E-8B4D-C19367F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同一张图片，分割结果可以差多少（1/3）</a:t>
            </a:r>
          </a:p>
        </p:txBody>
      </p:sp>
      <p:sp>
        <p:nvSpPr>
          <p:cNvPr id="2" name="results-text-22">
            <a:extLst xmlns:a="http://schemas.openxmlformats.org/drawingml/2006/main">
              <a:ext uri="{FF2B5EF4-FFF2-40B4-BE49-F238E27FC236}">
                <a16:creationId xmlns:a16="http://schemas.microsoft.com/office/drawing/2014/main" id="{67763E83-5E4C-42E6-BE3B-E5AABA5E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23">
            <a:extLst xmlns:a="http://schemas.openxmlformats.org/drawingml/2006/main">
              <a:ext uri="{FF2B5EF4-FFF2-40B4-BE49-F238E27FC236}">
                <a16:creationId xmlns:a16="http://schemas.microsoft.com/office/drawing/2014/main" id="{C3DD0597-04C4-4A3C-9C8C-5C199B6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" name="results-text-24">
            <a:extLst xmlns:a="http://schemas.openxmlformats.org/drawingml/2006/main">
              <a:ext uri="{FF2B5EF4-FFF2-40B4-BE49-F238E27FC236}">
                <a16:creationId xmlns:a16="http://schemas.microsoft.com/office/drawing/2014/main" id="{0576C524-6822-4722-B5A8-2B40A483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此前固定抽取的 6 张测试图片，按原顺序全部展示</a:t>
            </a:r>
          </a:p>
        </p:txBody>
      </p:sp>
      <p:sp>
        <p:nvSpPr>
          <p:cNvPr id="5" name="results-text-25">
            <a:extLst xmlns:a="http://schemas.openxmlformats.org/drawingml/2006/main">
              <a:ext uri="{FF2B5EF4-FFF2-40B4-BE49-F238E27FC236}">
                <a16:creationId xmlns:a16="http://schemas.microsoft.com/office/drawing/2014/main" id="{FA88B98D-DEE8-4845-B0B8-3556071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输入图片</a:t>
            </a:r>
          </a:p>
        </p:txBody>
      </p:sp>
      <p:sp>
        <p:nvSpPr>
          <p:cNvPr id="6" name="results-text-26">
            <a:extLst xmlns:a="http://schemas.openxmlformats.org/drawingml/2006/main">
              <a:ext uri="{FF2B5EF4-FFF2-40B4-BE49-F238E27FC236}">
                <a16:creationId xmlns:a16="http://schemas.microsoft.com/office/drawing/2014/main" id="{AFD024F0-892D-42DF-823B-9B9A1C5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真实掩码</a:t>
            </a:r>
          </a:p>
        </p:txBody>
      </p:sp>
      <p:sp>
        <p:nvSpPr>
          <p:cNvPr id="7" name="results-text-27">
            <a:extLst xmlns:a="http://schemas.openxmlformats.org/drawingml/2006/main">
              <a:ext uri="{FF2B5EF4-FFF2-40B4-BE49-F238E27FC236}">
                <a16:creationId xmlns:a16="http://schemas.microsoft.com/office/drawing/2014/main" id="{DD0F0F64-2D68-4D9D-83A0-BF84DE6F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手写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Encoder–Decoder</a:t>
            </a:r>
          </a:p>
        </p:txBody>
      </p:sp>
      <p:sp>
        <p:nvSpPr>
          <p:cNvPr id="8" name="results-text-28">
            <a:extLst xmlns:a="http://schemas.openxmlformats.org/drawingml/2006/main">
              <a:ext uri="{FF2B5EF4-FFF2-40B4-BE49-F238E27FC236}">
                <a16:creationId xmlns:a16="http://schemas.microsoft.com/office/drawing/2014/main" id="{A9E6BE83-B978-4162-9B7B-0583C2F9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U-Net</a:t>
            </a:r>
          </a:p>
        </p:txBody>
      </p:sp>
      <p:sp>
        <p:nvSpPr>
          <p:cNvPr id="9" name="results-text-29">
            <a:extLst xmlns:a="http://schemas.openxmlformats.org/drawingml/2006/main">
              <a:ext uri="{FF2B5EF4-FFF2-40B4-BE49-F238E27FC236}">
                <a16:creationId xmlns:a16="http://schemas.microsoft.com/office/drawing/2014/main" id="{5ABE4969-D0A3-48D0-BAAB-6AFBA836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改进方案1</a:t>
            </a:r>
          </a:p>
        </p:txBody>
      </p:sp>
      <p:sp>
        <p:nvSpPr>
          <p:cNvPr id="10" name="results-text-30">
            <a:extLst xmlns:a="http://schemas.openxmlformats.org/drawingml/2006/main">
              <a:ext uri="{FF2B5EF4-FFF2-40B4-BE49-F238E27FC236}">
                <a16:creationId xmlns:a16="http://schemas.microsoft.com/office/drawing/2014/main" id="{9BCABB14-DC01-48D1-9285-94EC91CF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改进方案2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DE20E-1799-4E50-ABEF-C1DBC77EB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1934c8fe94eda"/>
          <a:stretch xmlns:a="http://schemas.openxmlformats.org/drawingml/2006/main"/>
        </p:blipFill>
        <p:spPr>
          <a:xfrm xmlns:a="http://schemas.openxmlformats.org/drawingml/2006/main">
            <a:off x="619125" y="232410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1783B-77D4-4BEB-955B-AC04987ABC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7c55230a249b4"/>
          <a:stretch xmlns:a="http://schemas.openxmlformats.org/drawingml/2006/main"/>
        </p:blipFill>
        <p:spPr>
          <a:xfrm xmlns:a="http://schemas.openxmlformats.org/drawingml/2006/main">
            <a:off x="24669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results-text-31">
            <a:extLst xmlns:a="http://schemas.openxmlformats.org/drawingml/2006/main">
              <a:ext uri="{FF2B5EF4-FFF2-40B4-BE49-F238E27FC236}">
                <a16:creationId xmlns:a16="http://schemas.microsoft.com/office/drawing/2014/main" id="{64F5FAA9-22F5-4C15-806D-34BC7BC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Birman_5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FFF10-ACA5-4CAD-B3B6-ED63F489D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f62b1e7d141fc"/>
          <a:stretch xmlns:a="http://schemas.openxmlformats.org/drawingml/2006/main"/>
        </p:blipFill>
        <p:spPr>
          <a:xfrm xmlns:a="http://schemas.openxmlformats.org/drawingml/2006/main">
            <a:off x="431482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5" name="results-text-32">
            <a:extLst xmlns:a="http://schemas.openxmlformats.org/drawingml/2006/main">
              <a:ext uri="{FF2B5EF4-FFF2-40B4-BE49-F238E27FC236}">
                <a16:creationId xmlns:a16="http://schemas.microsoft.com/office/drawing/2014/main" id="{C1965679-243B-45C8-8845-6BF380F7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0.638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3F15C-72F7-4EBF-ADB0-0B3787DD2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df1984dc04f4d"/>
          <a:stretch xmlns:a="http://schemas.openxmlformats.org/drawingml/2006/main"/>
        </p:blipFill>
        <p:spPr>
          <a:xfrm xmlns:a="http://schemas.openxmlformats.org/drawingml/2006/main">
            <a:off x="61626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7" name="results-text-33">
            <a:extLst xmlns:a="http://schemas.openxmlformats.org/drawingml/2006/main">
              <a:ext uri="{FF2B5EF4-FFF2-40B4-BE49-F238E27FC236}">
                <a16:creationId xmlns:a16="http://schemas.microsoft.com/office/drawing/2014/main" id="{4DFA54C2-8DAC-4A92-9226-26ED33D0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IoU 0.696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EEE5B-1D16-40A1-B375-7E9AA8FAF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4deddadb746c6"/>
          <a:stretch xmlns:a="http://schemas.openxmlformats.org/drawingml/2006/main"/>
        </p:blipFill>
        <p:spPr>
          <a:xfrm xmlns:a="http://schemas.openxmlformats.org/drawingml/2006/main">
            <a:off x="801052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9" name="results-text-34">
            <a:extLst xmlns:a="http://schemas.openxmlformats.org/drawingml/2006/main">
              <a:ext uri="{FF2B5EF4-FFF2-40B4-BE49-F238E27FC236}">
                <a16:creationId xmlns:a16="http://schemas.microsoft.com/office/drawing/2014/main" id="{31F05A60-B808-4982-9E1F-B75ECFEE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IoU 0.564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882BD-D4BC-4309-B5A6-79DEECE6B2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00af404cb471f"/>
          <a:stretch xmlns:a="http://schemas.openxmlformats.org/drawingml/2006/main"/>
        </p:blipFill>
        <p:spPr>
          <a:xfrm xmlns:a="http://schemas.openxmlformats.org/drawingml/2006/main">
            <a:off x="98583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1" name="results-text-35">
            <a:extLst xmlns:a="http://schemas.openxmlformats.org/drawingml/2006/main">
              <a:ext uri="{FF2B5EF4-FFF2-40B4-BE49-F238E27FC236}">
                <a16:creationId xmlns:a16="http://schemas.microsoft.com/office/drawing/2014/main" id="{36D60C8E-35EF-4F7F-84A8-921AAF2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IoU 0.969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37092-E479-4134-9694-1527EFF13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66409b0514c2d"/>
          <a:stretch xmlns:a="http://schemas.openxmlformats.org/drawingml/2006/main"/>
        </p:blipFill>
        <p:spPr>
          <a:xfrm xmlns:a="http://schemas.openxmlformats.org/drawingml/2006/main">
            <a:off x="619125" y="424815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36A51-2C19-4611-B0C7-25195CDF4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4797a8f754e98"/>
          <a:stretch xmlns:a="http://schemas.openxmlformats.org/drawingml/2006/main"/>
        </p:blipFill>
        <p:spPr>
          <a:xfrm xmlns:a="http://schemas.openxmlformats.org/drawingml/2006/main">
            <a:off x="24669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4" name="results-text-36">
            <a:extLst xmlns:a="http://schemas.openxmlformats.org/drawingml/2006/main">
              <a:ext uri="{FF2B5EF4-FFF2-40B4-BE49-F238E27FC236}">
                <a16:creationId xmlns:a16="http://schemas.microsoft.com/office/drawing/2014/main" id="{CABE0749-7000-4FF6-A21A-DDB3E69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Maine_Coon_69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1E238-DD81-4E67-94DD-D07F8AD4F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27839e95d409e"/>
          <a:stretch xmlns:a="http://schemas.openxmlformats.org/drawingml/2006/main"/>
        </p:blipFill>
        <p:spPr>
          <a:xfrm xmlns:a="http://schemas.openxmlformats.org/drawingml/2006/main">
            <a:off x="431482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6" name="results-text-37">
            <a:extLst xmlns:a="http://schemas.openxmlformats.org/drawingml/2006/main">
              <a:ext uri="{FF2B5EF4-FFF2-40B4-BE49-F238E27FC236}">
                <a16:creationId xmlns:a16="http://schemas.microsoft.com/office/drawing/2014/main" id="{C0C5951F-3E0B-4876-A6FD-82F01258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0.242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E5426-4094-4C53-92FD-E6634DACC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f9414d544487e"/>
          <a:stretch xmlns:a="http://schemas.openxmlformats.org/drawingml/2006/main"/>
        </p:blipFill>
        <p:spPr>
          <a:xfrm xmlns:a="http://schemas.openxmlformats.org/drawingml/2006/main">
            <a:off x="61626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8" name="results-text-38">
            <a:extLst xmlns:a="http://schemas.openxmlformats.org/drawingml/2006/main">
              <a:ext uri="{FF2B5EF4-FFF2-40B4-BE49-F238E27FC236}">
                <a16:creationId xmlns:a16="http://schemas.microsoft.com/office/drawing/2014/main" id="{C9653F8B-D2A4-42AB-BE58-6056C5E8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IoU 0.444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DA798-B1A0-4A18-82AC-7E98522A1D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2945414ef4882"/>
          <a:stretch xmlns:a="http://schemas.openxmlformats.org/drawingml/2006/main"/>
        </p:blipFill>
        <p:spPr>
          <a:xfrm xmlns:a="http://schemas.openxmlformats.org/drawingml/2006/main">
            <a:off x="801052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0" name="results-text-39">
            <a:extLst xmlns:a="http://schemas.openxmlformats.org/drawingml/2006/main">
              <a:ext uri="{FF2B5EF4-FFF2-40B4-BE49-F238E27FC236}">
                <a16:creationId xmlns:a16="http://schemas.microsoft.com/office/drawing/2014/main" id="{E7B620B6-6543-4E9E-842B-C11AEE4B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IoU 0.344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742A49-8CF7-49D0-BDD4-8938C2309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6d63dbe6c4aa8"/>
          <a:stretch xmlns:a="http://schemas.openxmlformats.org/drawingml/2006/main"/>
        </p:blipFill>
        <p:spPr>
          <a:xfrm xmlns:a="http://schemas.openxmlformats.org/drawingml/2006/main">
            <a:off x="98583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2" name="results-text-40">
            <a:extLst xmlns:a="http://schemas.openxmlformats.org/drawingml/2006/main">
              <a:ext uri="{FF2B5EF4-FFF2-40B4-BE49-F238E27FC236}">
                <a16:creationId xmlns:a16="http://schemas.microsoft.com/office/drawing/2014/main" id="{82CB6FE5-8A9F-4235-838A-B72E8F1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IoU 0.995</a:t>
            </a:r>
          </a:p>
        </p:txBody>
      </p:sp>
      <p:sp>
        <p:nvSpPr>
          <p:cNvPr id="33" name="results-text-41">
            <a:extLst xmlns:a="http://schemas.openxmlformats.org/drawingml/2006/main">
              <a:ext uri="{FF2B5EF4-FFF2-40B4-BE49-F238E27FC236}">
                <a16:creationId xmlns:a16="http://schemas.microsoft.com/office/drawing/2014/main" id="{D14A90B6-41A3-4211-ADFE-DEB47BDE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817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白：宠物；黑：背景；灰：标注中的忽略区域。</a:t>
            </a:r>
          </a:p>
        </p:txBody>
      </p:sp>
    </p:spTree>
    <p:extLst>
      <p:ext uri="{BB962C8B-B14F-4D97-AF65-F5344CB8AC3E}">
        <p14:creationId xmlns:p14="http://schemas.microsoft.com/office/powerpoint/2010/main" val="4378852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sults-text-42">
            <a:extLst xmlns:a="http://schemas.openxmlformats.org/drawingml/2006/main">
              <a:ext uri="{FF2B5EF4-FFF2-40B4-BE49-F238E27FC236}">
                <a16:creationId xmlns:a16="http://schemas.microsoft.com/office/drawing/2014/main" id="{4E759F36-249F-4620-942C-FBB7EE58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同一张图片，分割结果可以差多少（2/3）</a:t>
            </a:r>
          </a:p>
        </p:txBody>
      </p:sp>
      <p:sp>
        <p:nvSpPr>
          <p:cNvPr id="2" name="results-text-43">
            <a:extLst xmlns:a="http://schemas.openxmlformats.org/drawingml/2006/main">
              <a:ext uri="{FF2B5EF4-FFF2-40B4-BE49-F238E27FC236}">
                <a16:creationId xmlns:a16="http://schemas.microsoft.com/office/drawing/2014/main" id="{9DDF7BD0-EC63-4D01-8871-24D4759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44">
            <a:extLst xmlns:a="http://schemas.openxmlformats.org/drawingml/2006/main">
              <a:ext uri="{FF2B5EF4-FFF2-40B4-BE49-F238E27FC236}">
                <a16:creationId xmlns:a16="http://schemas.microsoft.com/office/drawing/2014/main" id="{E5893A6A-1FB4-4553-9741-D31813C4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4" name="results-text-45">
            <a:extLst xmlns:a="http://schemas.openxmlformats.org/drawingml/2006/main">
              <a:ext uri="{FF2B5EF4-FFF2-40B4-BE49-F238E27FC236}">
                <a16:creationId xmlns:a16="http://schemas.microsoft.com/office/drawing/2014/main" id="{36BFA247-4ECF-4C4B-A854-EEE9D013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此前固定抽取的 6 张测试图片，按原顺序全部展示</a:t>
            </a:r>
          </a:p>
        </p:txBody>
      </p:sp>
      <p:sp>
        <p:nvSpPr>
          <p:cNvPr id="5" name="results-text-46">
            <a:extLst xmlns:a="http://schemas.openxmlformats.org/drawingml/2006/main">
              <a:ext uri="{FF2B5EF4-FFF2-40B4-BE49-F238E27FC236}">
                <a16:creationId xmlns:a16="http://schemas.microsoft.com/office/drawing/2014/main" id="{41A35569-353C-4EB6-B7F2-55AE3D4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输入图片</a:t>
            </a:r>
          </a:p>
        </p:txBody>
      </p:sp>
      <p:sp>
        <p:nvSpPr>
          <p:cNvPr id="6" name="results-text-47">
            <a:extLst xmlns:a="http://schemas.openxmlformats.org/drawingml/2006/main">
              <a:ext uri="{FF2B5EF4-FFF2-40B4-BE49-F238E27FC236}">
                <a16:creationId xmlns:a16="http://schemas.microsoft.com/office/drawing/2014/main" id="{6CEF369D-F761-4DA3-AE08-AB330AC3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真实掩码</a:t>
            </a:r>
          </a:p>
        </p:txBody>
      </p:sp>
      <p:sp>
        <p:nvSpPr>
          <p:cNvPr id="7" name="results-text-48">
            <a:extLst xmlns:a="http://schemas.openxmlformats.org/drawingml/2006/main">
              <a:ext uri="{FF2B5EF4-FFF2-40B4-BE49-F238E27FC236}">
                <a16:creationId xmlns:a16="http://schemas.microsoft.com/office/drawing/2014/main" id="{848FABBE-F612-4277-AD61-BF9A518D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手写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Encoder–Decoder</a:t>
            </a:r>
          </a:p>
        </p:txBody>
      </p:sp>
      <p:sp>
        <p:nvSpPr>
          <p:cNvPr id="8" name="results-text-49">
            <a:extLst xmlns:a="http://schemas.openxmlformats.org/drawingml/2006/main">
              <a:ext uri="{FF2B5EF4-FFF2-40B4-BE49-F238E27FC236}">
                <a16:creationId xmlns:a16="http://schemas.microsoft.com/office/drawing/2014/main" id="{13282C9F-AFE3-4029-9F08-83E9AE10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U-Net</a:t>
            </a:r>
          </a:p>
        </p:txBody>
      </p:sp>
      <p:sp>
        <p:nvSpPr>
          <p:cNvPr id="9" name="results-text-50">
            <a:extLst xmlns:a="http://schemas.openxmlformats.org/drawingml/2006/main">
              <a:ext uri="{FF2B5EF4-FFF2-40B4-BE49-F238E27FC236}">
                <a16:creationId xmlns:a16="http://schemas.microsoft.com/office/drawing/2014/main" id="{4B7F1682-5902-4497-A6CB-F867D5D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改进方案1</a:t>
            </a:r>
          </a:p>
        </p:txBody>
      </p:sp>
      <p:sp>
        <p:nvSpPr>
          <p:cNvPr id="10" name="results-text-51">
            <a:extLst xmlns:a="http://schemas.openxmlformats.org/drawingml/2006/main">
              <a:ext uri="{FF2B5EF4-FFF2-40B4-BE49-F238E27FC236}">
                <a16:creationId xmlns:a16="http://schemas.microsoft.com/office/drawing/2014/main" id="{5F455BFB-DECC-48C7-9FCF-FF5BF38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改进方案2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911C7-8791-47E5-A7AD-BAFDA8369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6c7c9f83140a0"/>
          <a:stretch xmlns:a="http://schemas.openxmlformats.org/drawingml/2006/main"/>
        </p:blipFill>
        <p:spPr>
          <a:xfrm xmlns:a="http://schemas.openxmlformats.org/drawingml/2006/main">
            <a:off x="619125" y="232410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6AB7-442E-4DA4-9757-B1AC9A7C5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ca15a6e314b19"/>
          <a:stretch xmlns:a="http://schemas.openxmlformats.org/drawingml/2006/main"/>
        </p:blipFill>
        <p:spPr>
          <a:xfrm xmlns:a="http://schemas.openxmlformats.org/drawingml/2006/main">
            <a:off x="24669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results-text-52">
            <a:extLst xmlns:a="http://schemas.openxmlformats.org/drawingml/2006/main">
              <a:ext uri="{FF2B5EF4-FFF2-40B4-BE49-F238E27FC236}">
                <a16:creationId xmlns:a16="http://schemas.microsoft.com/office/drawing/2014/main" id="{A6ABC8B8-1A40-4C40-BF43-2039BEE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Siamese_47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AD3F6-506D-479B-AE1A-E7AD3A123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0d055c530425b"/>
          <a:stretch xmlns:a="http://schemas.openxmlformats.org/drawingml/2006/main"/>
        </p:blipFill>
        <p:spPr>
          <a:xfrm xmlns:a="http://schemas.openxmlformats.org/drawingml/2006/main">
            <a:off x="431482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5" name="results-text-53">
            <a:extLst xmlns:a="http://schemas.openxmlformats.org/drawingml/2006/main">
              <a:ext uri="{FF2B5EF4-FFF2-40B4-BE49-F238E27FC236}">
                <a16:creationId xmlns:a16="http://schemas.microsoft.com/office/drawing/2014/main" id="{1BB8D82D-DA3C-4DA1-A252-711A6700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0.882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EDE93-D15D-47C8-BD58-E9B69EDEC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438a78a784b19"/>
          <a:stretch xmlns:a="http://schemas.openxmlformats.org/drawingml/2006/main"/>
        </p:blipFill>
        <p:spPr>
          <a:xfrm xmlns:a="http://schemas.openxmlformats.org/drawingml/2006/main">
            <a:off x="61626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7" name="results-text-54">
            <a:extLst xmlns:a="http://schemas.openxmlformats.org/drawingml/2006/main">
              <a:ext uri="{FF2B5EF4-FFF2-40B4-BE49-F238E27FC236}">
                <a16:creationId xmlns:a16="http://schemas.microsoft.com/office/drawing/2014/main" id="{0CA6AC37-D74E-4140-8824-108A904A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IoU 0.846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1E917-170B-4BFD-8B78-0CE0EDE5F2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3553b227f478c"/>
          <a:stretch xmlns:a="http://schemas.openxmlformats.org/drawingml/2006/main"/>
        </p:blipFill>
        <p:spPr>
          <a:xfrm xmlns:a="http://schemas.openxmlformats.org/drawingml/2006/main">
            <a:off x="801052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9" name="results-text-55">
            <a:extLst xmlns:a="http://schemas.openxmlformats.org/drawingml/2006/main">
              <a:ext uri="{FF2B5EF4-FFF2-40B4-BE49-F238E27FC236}">
                <a16:creationId xmlns:a16="http://schemas.microsoft.com/office/drawing/2014/main" id="{2AE8D67B-933B-4330-9F3B-47E6E576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IoU 0.787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06568-3DB2-4998-8DB9-2D0D747BA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4800a0e154a00"/>
          <a:stretch xmlns:a="http://schemas.openxmlformats.org/drawingml/2006/main"/>
        </p:blipFill>
        <p:spPr>
          <a:xfrm xmlns:a="http://schemas.openxmlformats.org/drawingml/2006/main">
            <a:off x="98583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1" name="results-text-56">
            <a:extLst xmlns:a="http://schemas.openxmlformats.org/drawingml/2006/main">
              <a:ext uri="{FF2B5EF4-FFF2-40B4-BE49-F238E27FC236}">
                <a16:creationId xmlns:a16="http://schemas.microsoft.com/office/drawing/2014/main" id="{525C01D8-02B0-4321-8719-1365C58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IoU 0.872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B4444-9BA6-4378-9009-ED82C8A1D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8bffc532e4e60"/>
          <a:stretch xmlns:a="http://schemas.openxmlformats.org/drawingml/2006/main"/>
        </p:blipFill>
        <p:spPr>
          <a:xfrm xmlns:a="http://schemas.openxmlformats.org/drawingml/2006/main">
            <a:off x="619125" y="424815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7555C-8CA8-4155-AB4D-12FEDAF29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dc206ff494c2b"/>
          <a:stretch xmlns:a="http://schemas.openxmlformats.org/drawingml/2006/main"/>
        </p:blipFill>
        <p:spPr>
          <a:xfrm xmlns:a="http://schemas.openxmlformats.org/drawingml/2006/main">
            <a:off x="24669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4" name="results-text-57">
            <a:extLst xmlns:a="http://schemas.openxmlformats.org/drawingml/2006/main">
              <a:ext uri="{FF2B5EF4-FFF2-40B4-BE49-F238E27FC236}">
                <a16:creationId xmlns:a16="http://schemas.microsoft.com/office/drawing/2014/main" id="{06CD4DCC-DBDD-4BFD-9231-D60C2F5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scottish_terrier_99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2951B-CA4B-4B3D-BEE2-96C79EC8A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84d59056c47d2"/>
          <a:stretch xmlns:a="http://schemas.openxmlformats.org/drawingml/2006/main"/>
        </p:blipFill>
        <p:spPr>
          <a:xfrm xmlns:a="http://schemas.openxmlformats.org/drawingml/2006/main">
            <a:off x="431482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6" name="results-text-58">
            <a:extLst xmlns:a="http://schemas.openxmlformats.org/drawingml/2006/main">
              <a:ext uri="{FF2B5EF4-FFF2-40B4-BE49-F238E27FC236}">
                <a16:creationId xmlns:a16="http://schemas.microsoft.com/office/drawing/2014/main" id="{5B106638-FF14-46FA-8B93-AC669C44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0.518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0BE78-39D5-4969-BA5A-90703544E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ad4f894024718"/>
          <a:stretch xmlns:a="http://schemas.openxmlformats.org/drawingml/2006/main"/>
        </p:blipFill>
        <p:spPr>
          <a:xfrm xmlns:a="http://schemas.openxmlformats.org/drawingml/2006/main">
            <a:off x="61626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8" name="results-text-59">
            <a:extLst xmlns:a="http://schemas.openxmlformats.org/drawingml/2006/main">
              <a:ext uri="{FF2B5EF4-FFF2-40B4-BE49-F238E27FC236}">
                <a16:creationId xmlns:a16="http://schemas.microsoft.com/office/drawing/2014/main" id="{15AB1D80-3D97-497E-86E1-9C4B75F5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IoU 0.627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55CA8-71AB-427A-9483-51734449D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5f8fce9194212"/>
          <a:stretch xmlns:a="http://schemas.openxmlformats.org/drawingml/2006/main"/>
        </p:blipFill>
        <p:spPr>
          <a:xfrm xmlns:a="http://schemas.openxmlformats.org/drawingml/2006/main">
            <a:off x="801052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0" name="results-text-60">
            <a:extLst xmlns:a="http://schemas.openxmlformats.org/drawingml/2006/main">
              <a:ext uri="{FF2B5EF4-FFF2-40B4-BE49-F238E27FC236}">
                <a16:creationId xmlns:a16="http://schemas.microsoft.com/office/drawing/2014/main" id="{A62E65D9-0634-42DF-9F9F-8BCA9B1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IoU 0.466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3106D-1D08-4FEA-B1BB-1A733BAFA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1c3eb3ce046e4"/>
          <a:stretch xmlns:a="http://schemas.openxmlformats.org/drawingml/2006/main"/>
        </p:blipFill>
        <p:spPr>
          <a:xfrm xmlns:a="http://schemas.openxmlformats.org/drawingml/2006/main">
            <a:off x="98583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2" name="results-text-61">
            <a:extLst xmlns:a="http://schemas.openxmlformats.org/drawingml/2006/main">
              <a:ext uri="{FF2B5EF4-FFF2-40B4-BE49-F238E27FC236}">
                <a16:creationId xmlns:a16="http://schemas.microsoft.com/office/drawing/2014/main" id="{8C0FACDA-0C65-4C54-86C2-BC478BD3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IoU 0.992</a:t>
            </a:r>
          </a:p>
        </p:txBody>
      </p:sp>
      <p:sp>
        <p:nvSpPr>
          <p:cNvPr id="33" name="results-text-62">
            <a:extLst xmlns:a="http://schemas.openxmlformats.org/drawingml/2006/main">
              <a:ext uri="{FF2B5EF4-FFF2-40B4-BE49-F238E27FC236}">
                <a16:creationId xmlns:a16="http://schemas.microsoft.com/office/drawing/2014/main" id="{34CD93A0-B08B-4C79-A727-8F09CA32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817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白：宠物；黑：背景；灰：标注中的忽略区域。</a:t>
            </a:r>
          </a:p>
        </p:txBody>
      </p:sp>
    </p:spTree>
    <p:extLst>
      <p:ext uri="{BB962C8B-B14F-4D97-AF65-F5344CB8AC3E}">
        <p14:creationId xmlns:p14="http://schemas.microsoft.com/office/powerpoint/2010/main" val="20529589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sults-text-63">
            <a:extLst xmlns:a="http://schemas.openxmlformats.org/drawingml/2006/main">
              <a:ext uri="{FF2B5EF4-FFF2-40B4-BE49-F238E27FC236}">
                <a16:creationId xmlns:a16="http://schemas.microsoft.com/office/drawing/2014/main" id="{1373AA18-FFF8-4AC3-BA66-554D06D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同一张图片，分割结果可以差多少（3/3）</a:t>
            </a:r>
          </a:p>
        </p:txBody>
      </p:sp>
      <p:sp>
        <p:nvSpPr>
          <p:cNvPr id="2" name="results-text-64">
            <a:extLst xmlns:a="http://schemas.openxmlformats.org/drawingml/2006/main">
              <a:ext uri="{FF2B5EF4-FFF2-40B4-BE49-F238E27FC236}">
                <a16:creationId xmlns:a16="http://schemas.microsoft.com/office/drawing/2014/main" id="{0AEA5C6E-B96F-4153-9A14-F0A28767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65">
            <a:extLst xmlns:a="http://schemas.openxmlformats.org/drawingml/2006/main">
              <a:ext uri="{FF2B5EF4-FFF2-40B4-BE49-F238E27FC236}">
                <a16:creationId xmlns:a16="http://schemas.microsoft.com/office/drawing/2014/main" id="{8B38C012-1FD8-475D-AAD9-7C89361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4" name="results-text-66">
            <a:extLst xmlns:a="http://schemas.openxmlformats.org/drawingml/2006/main">
              <a:ext uri="{FF2B5EF4-FFF2-40B4-BE49-F238E27FC236}">
                <a16:creationId xmlns:a16="http://schemas.microsoft.com/office/drawing/2014/main" id="{93A21E2D-E2B8-4430-A386-39C503E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此前固定抽取的 6 张测试图片，按原顺序全部展示</a:t>
            </a:r>
          </a:p>
        </p:txBody>
      </p:sp>
      <p:sp>
        <p:nvSpPr>
          <p:cNvPr id="5" name="results-text-67">
            <a:extLst xmlns:a="http://schemas.openxmlformats.org/drawingml/2006/main">
              <a:ext uri="{FF2B5EF4-FFF2-40B4-BE49-F238E27FC236}">
                <a16:creationId xmlns:a16="http://schemas.microsoft.com/office/drawing/2014/main" id="{808204B8-4A25-4A48-B8A5-CBEC76A8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输入图片</a:t>
            </a:r>
          </a:p>
        </p:txBody>
      </p:sp>
      <p:sp>
        <p:nvSpPr>
          <p:cNvPr id="6" name="results-text-68">
            <a:extLst xmlns:a="http://schemas.openxmlformats.org/drawingml/2006/main">
              <a:ext uri="{FF2B5EF4-FFF2-40B4-BE49-F238E27FC236}">
                <a16:creationId xmlns:a16="http://schemas.microsoft.com/office/drawing/2014/main" id="{14072229-FBAC-4B42-AE00-7CFE4DD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真实掩码</a:t>
            </a:r>
          </a:p>
        </p:txBody>
      </p:sp>
      <p:sp>
        <p:nvSpPr>
          <p:cNvPr id="7" name="results-text-69">
            <a:extLst xmlns:a="http://schemas.openxmlformats.org/drawingml/2006/main">
              <a:ext uri="{FF2B5EF4-FFF2-40B4-BE49-F238E27FC236}">
                <a16:creationId xmlns:a16="http://schemas.microsoft.com/office/drawing/2014/main" id="{AB35E092-E0DB-4A68-8CFF-1B3FDD01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手写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Encoder–Decoder</a:t>
            </a:r>
          </a:p>
        </p:txBody>
      </p:sp>
      <p:sp>
        <p:nvSpPr>
          <p:cNvPr id="8" name="results-text-70">
            <a:extLst xmlns:a="http://schemas.openxmlformats.org/drawingml/2006/main">
              <a:ext uri="{FF2B5EF4-FFF2-40B4-BE49-F238E27FC236}">
                <a16:creationId xmlns:a16="http://schemas.microsoft.com/office/drawing/2014/main" id="{BC2F0B5B-C571-46C5-B25F-C2DA88DD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U-Net</a:t>
            </a:r>
          </a:p>
        </p:txBody>
      </p:sp>
      <p:sp>
        <p:nvSpPr>
          <p:cNvPr id="9" name="results-text-71">
            <a:extLst xmlns:a="http://schemas.openxmlformats.org/drawingml/2006/main">
              <a:ext uri="{FF2B5EF4-FFF2-40B4-BE49-F238E27FC236}">
                <a16:creationId xmlns:a16="http://schemas.microsoft.com/office/drawing/2014/main" id="{1241BEA4-4A62-4C20-B740-612F1A84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改进方案1</a:t>
            </a:r>
          </a:p>
        </p:txBody>
      </p:sp>
      <p:sp>
        <p:nvSpPr>
          <p:cNvPr id="10" name="results-text-72">
            <a:extLst xmlns:a="http://schemas.openxmlformats.org/drawingml/2006/main">
              <a:ext uri="{FF2B5EF4-FFF2-40B4-BE49-F238E27FC236}">
                <a16:creationId xmlns:a16="http://schemas.microsoft.com/office/drawing/2014/main" id="{20B481EC-2D86-4991-A748-55C9D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改进方案2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96FD7-1F52-4D1B-A776-24C0BD9CA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739d594b84eb9"/>
          <a:stretch xmlns:a="http://schemas.openxmlformats.org/drawingml/2006/main"/>
        </p:blipFill>
        <p:spPr>
          <a:xfrm xmlns:a="http://schemas.openxmlformats.org/drawingml/2006/main">
            <a:off x="619125" y="232410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43F86-C4E4-4EBB-BE3F-618B653A2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f34f72314573"/>
          <a:stretch xmlns:a="http://schemas.openxmlformats.org/drawingml/2006/main"/>
        </p:blipFill>
        <p:spPr>
          <a:xfrm xmlns:a="http://schemas.openxmlformats.org/drawingml/2006/main">
            <a:off x="24669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results-text-73">
            <a:extLst xmlns:a="http://schemas.openxmlformats.org/drawingml/2006/main">
              <a:ext uri="{FF2B5EF4-FFF2-40B4-BE49-F238E27FC236}">
                <a16:creationId xmlns:a16="http://schemas.microsoft.com/office/drawing/2014/main" id="{944DFF41-C05C-4C12-A543-81684BB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boxer_27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37422-8D47-4F98-983C-7640B222EF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a0eb473bb4674"/>
          <a:stretch xmlns:a="http://schemas.openxmlformats.org/drawingml/2006/main"/>
        </p:blipFill>
        <p:spPr>
          <a:xfrm xmlns:a="http://schemas.openxmlformats.org/drawingml/2006/main">
            <a:off x="431482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5" name="results-text-74">
            <a:extLst xmlns:a="http://schemas.openxmlformats.org/drawingml/2006/main">
              <a:ext uri="{FF2B5EF4-FFF2-40B4-BE49-F238E27FC236}">
                <a16:creationId xmlns:a16="http://schemas.microsoft.com/office/drawing/2014/main" id="{FCBC29D9-C245-4601-A85E-35278E3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0.957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58333-4CA9-48CB-A330-9ECF2D779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5c2445b5642e5"/>
          <a:stretch xmlns:a="http://schemas.openxmlformats.org/drawingml/2006/main"/>
        </p:blipFill>
        <p:spPr>
          <a:xfrm xmlns:a="http://schemas.openxmlformats.org/drawingml/2006/main">
            <a:off x="61626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7" name="results-text-75">
            <a:extLst xmlns:a="http://schemas.openxmlformats.org/drawingml/2006/main">
              <a:ext uri="{FF2B5EF4-FFF2-40B4-BE49-F238E27FC236}">
                <a16:creationId xmlns:a16="http://schemas.microsoft.com/office/drawing/2014/main" id="{40D0BC0C-659F-4A56-AC2C-2D91B3C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IoU 0.906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16320-CD9A-493F-AE16-DB1F988BE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1fff5557f43f8"/>
          <a:stretch xmlns:a="http://schemas.openxmlformats.org/drawingml/2006/main"/>
        </p:blipFill>
        <p:spPr>
          <a:xfrm xmlns:a="http://schemas.openxmlformats.org/drawingml/2006/main">
            <a:off x="801052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9" name="results-text-76">
            <a:extLst xmlns:a="http://schemas.openxmlformats.org/drawingml/2006/main">
              <a:ext uri="{FF2B5EF4-FFF2-40B4-BE49-F238E27FC236}">
                <a16:creationId xmlns:a16="http://schemas.microsoft.com/office/drawing/2014/main" id="{EBA73AC4-6227-4CC7-806E-7A56535B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IoU 0.820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4F8EF-09C2-441A-824D-E1A4F326BA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935fa9c0d4b6e"/>
          <a:stretch xmlns:a="http://schemas.openxmlformats.org/drawingml/2006/main"/>
        </p:blipFill>
        <p:spPr>
          <a:xfrm xmlns:a="http://schemas.openxmlformats.org/drawingml/2006/main">
            <a:off x="9858375" y="23241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1" name="results-text-77">
            <a:extLst xmlns:a="http://schemas.openxmlformats.org/drawingml/2006/main">
              <a:ext uri="{FF2B5EF4-FFF2-40B4-BE49-F238E27FC236}">
                <a16:creationId xmlns:a16="http://schemas.microsoft.com/office/drawing/2014/main" id="{03ED9F98-46A8-49A4-95CE-8AC8828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100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IoU 1.000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90C25-E7F8-4E25-A43A-67A96B6E8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7a7ab76d94bdb"/>
          <a:stretch xmlns:a="http://schemas.openxmlformats.org/drawingml/2006/main"/>
        </p:blipFill>
        <p:spPr>
          <a:xfrm xmlns:a="http://schemas.openxmlformats.org/drawingml/2006/main">
            <a:off x="619125" y="4248150"/>
            <a:ext cx="1676400" cy="16764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78647-4F5B-444D-981C-DCFD55E51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2e602a0894b20"/>
          <a:stretch xmlns:a="http://schemas.openxmlformats.org/drawingml/2006/main"/>
        </p:blipFill>
        <p:spPr>
          <a:xfrm xmlns:a="http://schemas.openxmlformats.org/drawingml/2006/main">
            <a:off x="24669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4" name="results-text-78">
            <a:extLst xmlns:a="http://schemas.openxmlformats.org/drawingml/2006/main">
              <a:ext uri="{FF2B5EF4-FFF2-40B4-BE49-F238E27FC236}">
                <a16:creationId xmlns:a16="http://schemas.microsoft.com/office/drawing/2014/main" id="{CADD90AF-08C2-42D6-9DE3-070A32DF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great_pyrenees_22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ACA50-D9F0-42F7-B379-A480DBF39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f1789b91f44c7"/>
          <a:stretch xmlns:a="http://schemas.openxmlformats.org/drawingml/2006/main"/>
        </p:blipFill>
        <p:spPr>
          <a:xfrm xmlns:a="http://schemas.openxmlformats.org/drawingml/2006/main">
            <a:off x="431482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6" name="results-text-79">
            <a:extLst xmlns:a="http://schemas.openxmlformats.org/drawingml/2006/main">
              <a:ext uri="{FF2B5EF4-FFF2-40B4-BE49-F238E27FC236}">
                <a16:creationId xmlns:a16="http://schemas.microsoft.com/office/drawing/2014/main" id="{311EFC94-8FD9-4206-9045-5C9D9536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IoU 0.834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FFAB6-422B-425A-AC9B-435A74BF4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29c21f8ca474f"/>
          <a:stretch xmlns:a="http://schemas.openxmlformats.org/drawingml/2006/main"/>
        </p:blipFill>
        <p:spPr>
          <a:xfrm xmlns:a="http://schemas.openxmlformats.org/drawingml/2006/main">
            <a:off x="61626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8" name="results-text-80">
            <a:extLst xmlns:a="http://schemas.openxmlformats.org/drawingml/2006/main">
              <a:ext uri="{FF2B5EF4-FFF2-40B4-BE49-F238E27FC236}">
                <a16:creationId xmlns:a16="http://schemas.microsoft.com/office/drawing/2014/main" id="{654A445C-130E-42FF-B9C6-5CA6F441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IoU 0.862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0B2DF-6596-4C83-B91C-8F87292CE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3b86359054771"/>
          <a:stretch xmlns:a="http://schemas.openxmlformats.org/drawingml/2006/main"/>
        </p:blipFill>
        <p:spPr>
          <a:xfrm xmlns:a="http://schemas.openxmlformats.org/drawingml/2006/main">
            <a:off x="801052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0" name="results-text-81">
            <a:extLst xmlns:a="http://schemas.openxmlformats.org/drawingml/2006/main">
              <a:ext uri="{FF2B5EF4-FFF2-40B4-BE49-F238E27FC236}">
                <a16:creationId xmlns:a16="http://schemas.microsoft.com/office/drawing/2014/main" id="{E77DBE8C-D52C-4F4D-9B93-4562FBC2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59632"/>
                </a:solidFill>
                <a:latin typeface="Arial Unicode MS"/>
                <a:ea typeface="Arial Unicode MS"/>
                <a:cs typeface="Arial Unicode MS"/>
              </a:rPr>
              <a:t>IoU 0.994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C92FAA-A9D8-47D9-8F0A-ECD3B2A38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2056118954e26"/>
          <a:stretch xmlns:a="http://schemas.openxmlformats.org/drawingml/2006/main"/>
        </p:blipFill>
        <p:spPr>
          <a:xfrm xmlns:a="http://schemas.openxmlformats.org/drawingml/2006/main">
            <a:off x="9858375" y="424815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2" name="results-text-82">
            <a:extLst xmlns:a="http://schemas.openxmlformats.org/drawingml/2006/main">
              <a:ext uri="{FF2B5EF4-FFF2-40B4-BE49-F238E27FC236}">
                <a16:creationId xmlns:a16="http://schemas.microsoft.com/office/drawing/2014/main" id="{8AB5A345-EDDD-4470-8346-D37BDAE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340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IoU 0.998</a:t>
            </a:r>
          </a:p>
        </p:txBody>
      </p:sp>
      <p:sp>
        <p:nvSpPr>
          <p:cNvPr id="33" name="results-text-83">
            <a:extLst xmlns:a="http://schemas.openxmlformats.org/drawingml/2006/main">
              <a:ext uri="{FF2B5EF4-FFF2-40B4-BE49-F238E27FC236}">
                <a16:creationId xmlns:a16="http://schemas.microsoft.com/office/drawing/2014/main" id="{4E81EBFC-4C38-4FE8-BB5D-AEC4B1B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817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白：宠物；黑：背景；灰：标注中的忽略区域。</a:t>
            </a:r>
          </a:p>
        </p:txBody>
      </p:sp>
    </p:spTree>
    <p:extLst>
      <p:ext uri="{BB962C8B-B14F-4D97-AF65-F5344CB8AC3E}">
        <p14:creationId xmlns:p14="http://schemas.microsoft.com/office/powerpoint/2010/main" val="10561379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s-text-84">
            <a:extLst xmlns:a="http://schemas.openxmlformats.org/drawingml/2006/main">
              <a:ext uri="{FF2B5EF4-FFF2-40B4-BE49-F238E27FC236}">
                <a16:creationId xmlns:a16="http://schemas.microsoft.com/office/drawing/2014/main" id="{E0075FF0-968D-452D-8E32-23FA950F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手写网络是起点，分割质量可以继续提高</a:t>
            </a:r>
          </a:p>
        </p:txBody>
      </p:sp>
      <p:sp>
        <p:nvSpPr>
          <p:cNvPr id="2" name="results-text-85">
            <a:extLst xmlns:a="http://schemas.openxmlformats.org/drawingml/2006/main">
              <a:ext uri="{FF2B5EF4-FFF2-40B4-BE49-F238E27FC236}">
                <a16:creationId xmlns:a16="http://schemas.microsoft.com/office/drawing/2014/main" id="{DB4CA2AD-6E82-47B1-B744-6261FAE5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91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实验结果与进一步探索</a:t>
            </a:r>
          </a:p>
        </p:txBody>
      </p:sp>
      <p:sp>
        <p:nvSpPr>
          <p:cNvPr id="3" name="results-text-86">
            <a:extLst xmlns:a="http://schemas.openxmlformats.org/drawingml/2006/main">
              <a:ext uri="{FF2B5EF4-FFF2-40B4-BE49-F238E27FC236}">
                <a16:creationId xmlns:a16="http://schemas.microsoft.com/office/drawing/2014/main" id="{879BEED1-610A-4BAB-B5EF-B671250F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4" name="results-text-87">
            <a:extLst xmlns:a="http://schemas.openxmlformats.org/drawingml/2006/main">
              <a:ext uri="{FF2B5EF4-FFF2-40B4-BE49-F238E27FC236}">
                <a16:creationId xmlns:a16="http://schemas.microsoft.com/office/drawing/2014/main" id="{0D025D5A-C0B8-4F2E-9E5E-F4C41E0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10953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050" b="1">
                <a:solidFill>
                  <a:srgbClr val="299F97"/>
                </a:solidFill>
                <a:latin typeface="Arial Unicode MS"/>
                <a:ea typeface="Arial Unicode MS"/>
                <a:cs typeface="Arial Unicode MS"/>
              </a:rPr>
              <a:t>0.70 → 0.97</a:t>
            </a:r>
          </a:p>
        </p:txBody>
      </p:sp>
      <p:sp>
        <p:nvSpPr>
          <p:cNvPr id="5" name="results-text-88">
            <a:extLst xmlns:a="http://schemas.openxmlformats.org/drawingml/2006/main">
              <a:ext uri="{FF2B5EF4-FFF2-40B4-BE49-F238E27FC236}">
                <a16:creationId xmlns:a16="http://schemas.microsoft.com/office/drawing/2014/main" id="{55D1A6B9-1875-414D-A036-4AEE21EF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同一测试集上的平均前景 IoU</a:t>
            </a:r>
          </a:p>
        </p:txBody>
      </p:sp>
      <p:sp>
        <p:nvSpPr>
          <p:cNvPr id="6" name="results-text-89">
            <a:extLst xmlns:a="http://schemas.openxmlformats.org/drawingml/2006/main">
              <a:ext uri="{FF2B5EF4-FFF2-40B4-BE49-F238E27FC236}">
                <a16:creationId xmlns:a16="http://schemas.microsoft.com/office/drawing/2014/main" id="{5C145423-495F-4F06-AC87-58E7C94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先完成：把原理变成能训练、能评估的网络</a:t>
            </a:r>
          </a:p>
        </p:txBody>
      </p:sp>
      <p:sp>
        <p:nvSpPr>
          <p:cNvPr id="7" name="results-text-90">
            <a:extLst xmlns:a="http://schemas.openxmlformats.org/drawingml/2006/main">
              <a:ext uri="{FF2B5EF4-FFF2-40B4-BE49-F238E27FC236}">
                <a16:creationId xmlns:a16="http://schemas.microsoft.com/office/drawing/2014/main" id="{D94C3346-9889-4C3E-8AEB-EE2AADB9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B63"/>
                </a:solidFill>
                <a:latin typeface="Arial Unicode MS"/>
                <a:ea typeface="Arial Unicode MS"/>
                <a:cs typeface="Arial Unicode MS"/>
              </a:rPr>
              <a:t>再探索：让每一次修改，都有曲线与预测结果作证</a:t>
            </a:r>
          </a:p>
        </p:txBody>
      </p:sp>
      <p:sp>
        <p:nvSpPr>
          <p:cNvPr id="8" name="results-text-91">
            <a:extLst xmlns:a="http://schemas.openxmlformats.org/drawingml/2006/main">
              <a:ext uri="{FF2B5EF4-FFF2-40B4-BE49-F238E27FC236}">
                <a16:creationId xmlns:a16="http://schemas.microsoft.com/office/drawing/2014/main" id="{196C4EA2-D96F-4C1C-ABD8-04FA0594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87AB7"/>
                </a:solidFill>
                <a:latin typeface="Arial Unicode MS"/>
                <a:ea typeface="Arial Unicode MS"/>
                <a:cs typeface="Arial Unicode MS"/>
              </a:rPr>
              <a:t>基础模型的效果有限，不意味着这个任务只能做到这样。</a:t>
            </a:r>
          </a:p>
        </p:txBody>
      </p:sp>
      <p:sp>
        <p:nvSpPr>
          <p:cNvPr id="9" name="results-text-92">
            <a:extLst xmlns:a="http://schemas.openxmlformats.org/drawingml/2006/main">
              <a:ext uri="{FF2B5EF4-FFF2-40B4-BE49-F238E27FC236}">
                <a16:creationId xmlns:a16="http://schemas.microsoft.com/office/drawing/2014/main" id="{8D2598E7-FADA-43B7-A32B-FE3D8D6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C6B7E"/>
                </a:solidFill>
                <a:latin typeface="Arial Unicode MS"/>
                <a:ea typeface="Arial Unicode MS"/>
                <a:cs typeface="Arial Unicode MS"/>
              </a:rPr>
              <a:t>在本实验评价口径下，可以做得很好；高平均分也仍有失败样例。</a:t>
            </a:r>
          </a:p>
        </p:txBody>
      </p:sp>
    </p:spTree>
    <p:extLst>
      <p:ext uri="{BB962C8B-B14F-4D97-AF65-F5344CB8AC3E}">
        <p14:creationId xmlns:p14="http://schemas.microsoft.com/office/powerpoint/2010/main" val="492587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2026-10-19T16:17:39.0530000Z</dcterms:created>
  <dcterms:modified xsi:type="dcterms:W3CDTF">2026-10-19T16:17:39.0530000Z</dcterms:modified>
</coreProperties>
</file>